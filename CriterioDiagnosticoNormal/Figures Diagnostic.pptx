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Lst>
  <p:sldSz cx="9144000" cy="6858000" type="screen4x3"/>
  <p:notesSz cx="6858000" cy="9144000"/>
  <p:defaultTextStyle>
    <a:defPPr>
      <a:defRPr lang="ca-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F99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4" d="100"/>
          <a:sy n="114" d="100"/>
        </p:scale>
        <p:origin x="156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o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E681BF7F-3367-40D7-A033-6E917A3F6739}"/>
              </a:ext>
            </a:extLst>
          </p:cNvPr>
          <p:cNvSpPr>
            <a:spLocks noGrp="1"/>
          </p:cNvSpPr>
          <p:nvPr>
            <p:ph type="ctrTitle"/>
          </p:nvPr>
        </p:nvSpPr>
        <p:spPr>
          <a:xfrm>
            <a:off x="1143000" y="1122363"/>
            <a:ext cx="6858000" cy="2387600"/>
          </a:xfrm>
        </p:spPr>
        <p:txBody>
          <a:bodyPr anchor="b"/>
          <a:lstStyle>
            <a:lvl1pPr algn="ctr">
              <a:defRPr sz="4500"/>
            </a:lvl1pPr>
          </a:lstStyle>
          <a:p>
            <a:r>
              <a:rPr lang="ca-ES"/>
              <a:t>Feu clic aquí per editar l'estil</a:t>
            </a:r>
            <a:endParaRPr lang="en-US"/>
          </a:p>
        </p:txBody>
      </p:sp>
      <p:sp>
        <p:nvSpPr>
          <p:cNvPr id="3" name="Subtítol 2">
            <a:extLst>
              <a:ext uri="{FF2B5EF4-FFF2-40B4-BE49-F238E27FC236}">
                <a16:creationId xmlns:a16="http://schemas.microsoft.com/office/drawing/2014/main" id="{6C963667-3944-42D8-8B78-E25D5271E548}"/>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ca-ES"/>
              <a:t>Feu clic aquí per editar l'estil de subtítols del patró</a:t>
            </a:r>
            <a:endParaRPr lang="en-US"/>
          </a:p>
        </p:txBody>
      </p:sp>
      <p:sp>
        <p:nvSpPr>
          <p:cNvPr id="4" name="Contenidor de data 3">
            <a:extLst>
              <a:ext uri="{FF2B5EF4-FFF2-40B4-BE49-F238E27FC236}">
                <a16:creationId xmlns:a16="http://schemas.microsoft.com/office/drawing/2014/main" id="{BC8CA45B-2F1F-4EE6-AFA2-06507352510C}"/>
              </a:ext>
            </a:extLst>
          </p:cNvPr>
          <p:cNvSpPr>
            <a:spLocks noGrp="1"/>
          </p:cNvSpPr>
          <p:nvPr>
            <p:ph type="dt" sz="half" idx="10"/>
          </p:nvPr>
        </p:nvSpPr>
        <p:spPr/>
        <p:txBody>
          <a:bodyPr/>
          <a:lstStyle/>
          <a:p>
            <a:fld id="{EF387618-D9D0-4ECC-91E4-590420D384A5}" type="datetimeFigureOut">
              <a:rPr lang="en-US" smtClean="0"/>
              <a:t>11/13/2019</a:t>
            </a:fld>
            <a:endParaRPr lang="en-US"/>
          </a:p>
        </p:txBody>
      </p:sp>
      <p:sp>
        <p:nvSpPr>
          <p:cNvPr id="5" name="Contenidor de peu de pàgina 4">
            <a:extLst>
              <a:ext uri="{FF2B5EF4-FFF2-40B4-BE49-F238E27FC236}">
                <a16:creationId xmlns:a16="http://schemas.microsoft.com/office/drawing/2014/main" id="{6BF023D1-0F9B-416E-9AED-6B51A8E2A1F0}"/>
              </a:ext>
            </a:extLst>
          </p:cNvPr>
          <p:cNvSpPr>
            <a:spLocks noGrp="1"/>
          </p:cNvSpPr>
          <p:nvPr>
            <p:ph type="ftr" sz="quarter" idx="11"/>
          </p:nvPr>
        </p:nvSpPr>
        <p:spPr/>
        <p:txBody>
          <a:bodyPr/>
          <a:lstStyle/>
          <a:p>
            <a:endParaRPr lang="en-US"/>
          </a:p>
        </p:txBody>
      </p:sp>
      <p:sp>
        <p:nvSpPr>
          <p:cNvPr id="6" name="Contenidor de número de diapositiva 5">
            <a:extLst>
              <a:ext uri="{FF2B5EF4-FFF2-40B4-BE49-F238E27FC236}">
                <a16:creationId xmlns:a16="http://schemas.microsoft.com/office/drawing/2014/main" id="{139777F2-EE99-43FC-90A2-E2A623876A7A}"/>
              </a:ext>
            </a:extLst>
          </p:cNvPr>
          <p:cNvSpPr>
            <a:spLocks noGrp="1"/>
          </p:cNvSpPr>
          <p:nvPr>
            <p:ph type="sldNum" sz="quarter" idx="12"/>
          </p:nvPr>
        </p:nvSpPr>
        <p:spPr/>
        <p:txBody>
          <a:bodyPr/>
          <a:lstStyle/>
          <a:p>
            <a:fld id="{1F8DADBF-4F00-4C58-83FB-CD03D03D19CF}" type="slidenum">
              <a:rPr lang="en-US" smtClean="0"/>
              <a:t>‹#›</a:t>
            </a:fld>
            <a:endParaRPr lang="en-US"/>
          </a:p>
        </p:txBody>
      </p:sp>
    </p:spTree>
    <p:extLst>
      <p:ext uri="{BB962C8B-B14F-4D97-AF65-F5344CB8AC3E}">
        <p14:creationId xmlns:p14="http://schemas.microsoft.com/office/powerpoint/2010/main" val="2185153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ol i objectes">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1AE43118-C46A-445D-9681-C196A358C52A}"/>
              </a:ext>
            </a:extLst>
          </p:cNvPr>
          <p:cNvSpPr>
            <a:spLocks noGrp="1"/>
          </p:cNvSpPr>
          <p:nvPr>
            <p:ph type="title"/>
          </p:nvPr>
        </p:nvSpPr>
        <p:spPr/>
        <p:txBody>
          <a:bodyPr/>
          <a:lstStyle/>
          <a:p>
            <a:r>
              <a:rPr lang="ca-ES"/>
              <a:t>Feu clic aquí per editar l'estil</a:t>
            </a:r>
            <a:endParaRPr lang="en-US"/>
          </a:p>
        </p:txBody>
      </p:sp>
      <p:sp>
        <p:nvSpPr>
          <p:cNvPr id="3" name="Contenidor de contingut 2">
            <a:extLst>
              <a:ext uri="{FF2B5EF4-FFF2-40B4-BE49-F238E27FC236}">
                <a16:creationId xmlns:a16="http://schemas.microsoft.com/office/drawing/2014/main" id="{86CA87AA-A1B3-40F3-A2B5-C83459AF33D2}"/>
              </a:ext>
            </a:extLst>
          </p:cNvPr>
          <p:cNvSpPr>
            <a:spLocks noGrp="1"/>
          </p:cNvSpPr>
          <p:nvPr>
            <p:ph idx="1"/>
          </p:nvPr>
        </p:nvSpPr>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endParaRPr lang="en-US"/>
          </a:p>
        </p:txBody>
      </p:sp>
      <p:sp>
        <p:nvSpPr>
          <p:cNvPr id="4" name="Contenidor de data 3">
            <a:extLst>
              <a:ext uri="{FF2B5EF4-FFF2-40B4-BE49-F238E27FC236}">
                <a16:creationId xmlns:a16="http://schemas.microsoft.com/office/drawing/2014/main" id="{3F4131C2-17AF-402D-B1D2-10978F74C0E6}"/>
              </a:ext>
            </a:extLst>
          </p:cNvPr>
          <p:cNvSpPr>
            <a:spLocks noGrp="1"/>
          </p:cNvSpPr>
          <p:nvPr>
            <p:ph type="dt" sz="half" idx="10"/>
          </p:nvPr>
        </p:nvSpPr>
        <p:spPr/>
        <p:txBody>
          <a:bodyPr/>
          <a:lstStyle/>
          <a:p>
            <a:fld id="{EF387618-D9D0-4ECC-91E4-590420D384A5}" type="datetimeFigureOut">
              <a:rPr lang="en-US" smtClean="0"/>
              <a:t>11/13/2019</a:t>
            </a:fld>
            <a:endParaRPr lang="en-US"/>
          </a:p>
        </p:txBody>
      </p:sp>
      <p:sp>
        <p:nvSpPr>
          <p:cNvPr id="5" name="Contenidor de peu de pàgina 4">
            <a:extLst>
              <a:ext uri="{FF2B5EF4-FFF2-40B4-BE49-F238E27FC236}">
                <a16:creationId xmlns:a16="http://schemas.microsoft.com/office/drawing/2014/main" id="{316016A2-FB11-4843-BD15-25CD2440C606}"/>
              </a:ext>
            </a:extLst>
          </p:cNvPr>
          <p:cNvSpPr>
            <a:spLocks noGrp="1"/>
          </p:cNvSpPr>
          <p:nvPr>
            <p:ph type="ftr" sz="quarter" idx="11"/>
          </p:nvPr>
        </p:nvSpPr>
        <p:spPr/>
        <p:txBody>
          <a:bodyPr/>
          <a:lstStyle/>
          <a:p>
            <a:endParaRPr lang="en-US"/>
          </a:p>
        </p:txBody>
      </p:sp>
      <p:sp>
        <p:nvSpPr>
          <p:cNvPr id="6" name="Contenidor de número de diapositiva 5">
            <a:extLst>
              <a:ext uri="{FF2B5EF4-FFF2-40B4-BE49-F238E27FC236}">
                <a16:creationId xmlns:a16="http://schemas.microsoft.com/office/drawing/2014/main" id="{D0FC03A0-3DFE-4135-A5E6-F4E9B7C5B272}"/>
              </a:ext>
            </a:extLst>
          </p:cNvPr>
          <p:cNvSpPr>
            <a:spLocks noGrp="1"/>
          </p:cNvSpPr>
          <p:nvPr>
            <p:ph type="sldNum" sz="quarter" idx="12"/>
          </p:nvPr>
        </p:nvSpPr>
        <p:spPr/>
        <p:txBody>
          <a:bodyPr/>
          <a:lstStyle/>
          <a:p>
            <a:fld id="{1F8DADBF-4F00-4C58-83FB-CD03D03D19CF}" type="slidenum">
              <a:rPr lang="en-US" smtClean="0"/>
              <a:t>‹#›</a:t>
            </a:fld>
            <a:endParaRPr lang="en-US"/>
          </a:p>
        </p:txBody>
      </p:sp>
    </p:spTree>
    <p:extLst>
      <p:ext uri="{BB962C8B-B14F-4D97-AF65-F5344CB8AC3E}">
        <p14:creationId xmlns:p14="http://schemas.microsoft.com/office/powerpoint/2010/main" val="2396128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pçalera de la secció">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E5754F29-47B8-41BE-B9D2-82F91DEAF4AD}"/>
              </a:ext>
            </a:extLst>
          </p:cNvPr>
          <p:cNvSpPr>
            <a:spLocks noGrp="1"/>
          </p:cNvSpPr>
          <p:nvPr>
            <p:ph type="title"/>
          </p:nvPr>
        </p:nvSpPr>
        <p:spPr>
          <a:xfrm>
            <a:off x="623888" y="1709739"/>
            <a:ext cx="7886700" cy="2852737"/>
          </a:xfrm>
        </p:spPr>
        <p:txBody>
          <a:bodyPr anchor="b"/>
          <a:lstStyle>
            <a:lvl1pPr>
              <a:defRPr sz="4500"/>
            </a:lvl1pPr>
          </a:lstStyle>
          <a:p>
            <a:r>
              <a:rPr lang="ca-ES"/>
              <a:t>Feu clic aquí per editar l'estil</a:t>
            </a:r>
            <a:endParaRPr lang="en-US"/>
          </a:p>
        </p:txBody>
      </p:sp>
      <p:sp>
        <p:nvSpPr>
          <p:cNvPr id="3" name="Contenidor de text 2">
            <a:extLst>
              <a:ext uri="{FF2B5EF4-FFF2-40B4-BE49-F238E27FC236}">
                <a16:creationId xmlns:a16="http://schemas.microsoft.com/office/drawing/2014/main" id="{8BF68719-6A3C-4C77-840B-6166A3F7229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ca-ES"/>
              <a:t>Feu clic per editar els estils del text del patró</a:t>
            </a:r>
          </a:p>
        </p:txBody>
      </p:sp>
      <p:sp>
        <p:nvSpPr>
          <p:cNvPr id="4" name="Contenidor de data 3">
            <a:extLst>
              <a:ext uri="{FF2B5EF4-FFF2-40B4-BE49-F238E27FC236}">
                <a16:creationId xmlns:a16="http://schemas.microsoft.com/office/drawing/2014/main" id="{188CB3C6-7285-42E2-AA74-A49A84683101}"/>
              </a:ext>
            </a:extLst>
          </p:cNvPr>
          <p:cNvSpPr>
            <a:spLocks noGrp="1"/>
          </p:cNvSpPr>
          <p:nvPr>
            <p:ph type="dt" sz="half" idx="10"/>
          </p:nvPr>
        </p:nvSpPr>
        <p:spPr/>
        <p:txBody>
          <a:bodyPr/>
          <a:lstStyle/>
          <a:p>
            <a:fld id="{EF387618-D9D0-4ECC-91E4-590420D384A5}" type="datetimeFigureOut">
              <a:rPr lang="en-US" smtClean="0"/>
              <a:t>11/13/2019</a:t>
            </a:fld>
            <a:endParaRPr lang="en-US"/>
          </a:p>
        </p:txBody>
      </p:sp>
      <p:sp>
        <p:nvSpPr>
          <p:cNvPr id="5" name="Contenidor de peu de pàgina 4">
            <a:extLst>
              <a:ext uri="{FF2B5EF4-FFF2-40B4-BE49-F238E27FC236}">
                <a16:creationId xmlns:a16="http://schemas.microsoft.com/office/drawing/2014/main" id="{8B3FB5FF-D191-4BAC-AD9F-7D8CBB1BA5F2}"/>
              </a:ext>
            </a:extLst>
          </p:cNvPr>
          <p:cNvSpPr>
            <a:spLocks noGrp="1"/>
          </p:cNvSpPr>
          <p:nvPr>
            <p:ph type="ftr" sz="quarter" idx="11"/>
          </p:nvPr>
        </p:nvSpPr>
        <p:spPr/>
        <p:txBody>
          <a:bodyPr/>
          <a:lstStyle/>
          <a:p>
            <a:endParaRPr lang="en-US"/>
          </a:p>
        </p:txBody>
      </p:sp>
      <p:sp>
        <p:nvSpPr>
          <p:cNvPr id="6" name="Contenidor de número de diapositiva 5">
            <a:extLst>
              <a:ext uri="{FF2B5EF4-FFF2-40B4-BE49-F238E27FC236}">
                <a16:creationId xmlns:a16="http://schemas.microsoft.com/office/drawing/2014/main" id="{1C3C4438-6D4C-4E28-96E1-45DDA5E219E3}"/>
              </a:ext>
            </a:extLst>
          </p:cNvPr>
          <p:cNvSpPr>
            <a:spLocks noGrp="1"/>
          </p:cNvSpPr>
          <p:nvPr>
            <p:ph type="sldNum" sz="quarter" idx="12"/>
          </p:nvPr>
        </p:nvSpPr>
        <p:spPr/>
        <p:txBody>
          <a:bodyPr/>
          <a:lstStyle/>
          <a:p>
            <a:fld id="{1F8DADBF-4F00-4C58-83FB-CD03D03D19CF}" type="slidenum">
              <a:rPr lang="en-US" smtClean="0"/>
              <a:t>‹#›</a:t>
            </a:fld>
            <a:endParaRPr lang="en-US"/>
          </a:p>
        </p:txBody>
      </p:sp>
    </p:spTree>
    <p:extLst>
      <p:ext uri="{BB962C8B-B14F-4D97-AF65-F5344CB8AC3E}">
        <p14:creationId xmlns:p14="http://schemas.microsoft.com/office/powerpoint/2010/main" val="1843250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ctes">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24C34E02-BDD6-47BF-B88A-04351FEF34AE}"/>
              </a:ext>
            </a:extLst>
          </p:cNvPr>
          <p:cNvSpPr>
            <a:spLocks noGrp="1"/>
          </p:cNvSpPr>
          <p:nvPr>
            <p:ph type="title"/>
          </p:nvPr>
        </p:nvSpPr>
        <p:spPr/>
        <p:txBody>
          <a:bodyPr/>
          <a:lstStyle/>
          <a:p>
            <a:r>
              <a:rPr lang="ca-ES"/>
              <a:t>Feu clic aquí per editar l'estil</a:t>
            </a:r>
            <a:endParaRPr lang="en-US"/>
          </a:p>
        </p:txBody>
      </p:sp>
      <p:sp>
        <p:nvSpPr>
          <p:cNvPr id="3" name="Contenidor de contingut 2">
            <a:extLst>
              <a:ext uri="{FF2B5EF4-FFF2-40B4-BE49-F238E27FC236}">
                <a16:creationId xmlns:a16="http://schemas.microsoft.com/office/drawing/2014/main" id="{2FEA5DE8-99C8-4BB5-9013-AECE5DADF901}"/>
              </a:ext>
            </a:extLst>
          </p:cNvPr>
          <p:cNvSpPr>
            <a:spLocks noGrp="1"/>
          </p:cNvSpPr>
          <p:nvPr>
            <p:ph sz="half" idx="1"/>
          </p:nvPr>
        </p:nvSpPr>
        <p:spPr>
          <a:xfrm>
            <a:off x="628650" y="1825625"/>
            <a:ext cx="3886200" cy="435133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endParaRPr lang="en-US"/>
          </a:p>
        </p:txBody>
      </p:sp>
      <p:sp>
        <p:nvSpPr>
          <p:cNvPr id="4" name="Contenidor de contingut 3">
            <a:extLst>
              <a:ext uri="{FF2B5EF4-FFF2-40B4-BE49-F238E27FC236}">
                <a16:creationId xmlns:a16="http://schemas.microsoft.com/office/drawing/2014/main" id="{255C1A3B-9D69-422D-B14E-97830DD2A368}"/>
              </a:ext>
            </a:extLst>
          </p:cNvPr>
          <p:cNvSpPr>
            <a:spLocks noGrp="1"/>
          </p:cNvSpPr>
          <p:nvPr>
            <p:ph sz="half" idx="2"/>
          </p:nvPr>
        </p:nvSpPr>
        <p:spPr>
          <a:xfrm>
            <a:off x="4629150" y="1825625"/>
            <a:ext cx="3886200" cy="435133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endParaRPr lang="en-US"/>
          </a:p>
        </p:txBody>
      </p:sp>
      <p:sp>
        <p:nvSpPr>
          <p:cNvPr id="5" name="Contenidor de data 4">
            <a:extLst>
              <a:ext uri="{FF2B5EF4-FFF2-40B4-BE49-F238E27FC236}">
                <a16:creationId xmlns:a16="http://schemas.microsoft.com/office/drawing/2014/main" id="{BB1197E5-E581-4A1E-9810-F882D52D89CD}"/>
              </a:ext>
            </a:extLst>
          </p:cNvPr>
          <p:cNvSpPr>
            <a:spLocks noGrp="1"/>
          </p:cNvSpPr>
          <p:nvPr>
            <p:ph type="dt" sz="half" idx="10"/>
          </p:nvPr>
        </p:nvSpPr>
        <p:spPr/>
        <p:txBody>
          <a:bodyPr/>
          <a:lstStyle/>
          <a:p>
            <a:fld id="{EF387618-D9D0-4ECC-91E4-590420D384A5}" type="datetimeFigureOut">
              <a:rPr lang="en-US" smtClean="0"/>
              <a:t>11/13/2019</a:t>
            </a:fld>
            <a:endParaRPr lang="en-US"/>
          </a:p>
        </p:txBody>
      </p:sp>
      <p:sp>
        <p:nvSpPr>
          <p:cNvPr id="6" name="Contenidor de peu de pàgina 5">
            <a:extLst>
              <a:ext uri="{FF2B5EF4-FFF2-40B4-BE49-F238E27FC236}">
                <a16:creationId xmlns:a16="http://schemas.microsoft.com/office/drawing/2014/main" id="{EF399B7F-302B-4D89-816E-4D22CD2B3FED}"/>
              </a:ext>
            </a:extLst>
          </p:cNvPr>
          <p:cNvSpPr>
            <a:spLocks noGrp="1"/>
          </p:cNvSpPr>
          <p:nvPr>
            <p:ph type="ftr" sz="quarter" idx="11"/>
          </p:nvPr>
        </p:nvSpPr>
        <p:spPr/>
        <p:txBody>
          <a:bodyPr/>
          <a:lstStyle/>
          <a:p>
            <a:endParaRPr lang="en-US"/>
          </a:p>
        </p:txBody>
      </p:sp>
      <p:sp>
        <p:nvSpPr>
          <p:cNvPr id="7" name="Contenidor de número de diapositiva 6">
            <a:extLst>
              <a:ext uri="{FF2B5EF4-FFF2-40B4-BE49-F238E27FC236}">
                <a16:creationId xmlns:a16="http://schemas.microsoft.com/office/drawing/2014/main" id="{36D85165-E28B-4DAC-B5DC-C1D0047842F9}"/>
              </a:ext>
            </a:extLst>
          </p:cNvPr>
          <p:cNvSpPr>
            <a:spLocks noGrp="1"/>
          </p:cNvSpPr>
          <p:nvPr>
            <p:ph type="sldNum" sz="quarter" idx="12"/>
          </p:nvPr>
        </p:nvSpPr>
        <p:spPr/>
        <p:txBody>
          <a:bodyPr/>
          <a:lstStyle/>
          <a:p>
            <a:fld id="{1F8DADBF-4F00-4C58-83FB-CD03D03D19CF}" type="slidenum">
              <a:rPr lang="en-US" smtClean="0"/>
              <a:t>‹#›</a:t>
            </a:fld>
            <a:endParaRPr lang="en-US"/>
          </a:p>
        </p:txBody>
      </p:sp>
    </p:spTree>
    <p:extLst>
      <p:ext uri="{BB962C8B-B14F-4D97-AF65-F5344CB8AC3E}">
        <p14:creationId xmlns:p14="http://schemas.microsoft.com/office/powerpoint/2010/main" val="2697867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8A1A671E-616B-4BCD-AB8F-8D9165DE630A}"/>
              </a:ext>
            </a:extLst>
          </p:cNvPr>
          <p:cNvSpPr>
            <a:spLocks noGrp="1"/>
          </p:cNvSpPr>
          <p:nvPr>
            <p:ph type="title"/>
          </p:nvPr>
        </p:nvSpPr>
        <p:spPr>
          <a:xfrm>
            <a:off x="629841" y="365126"/>
            <a:ext cx="7886700" cy="1325563"/>
          </a:xfrm>
        </p:spPr>
        <p:txBody>
          <a:bodyPr/>
          <a:lstStyle/>
          <a:p>
            <a:r>
              <a:rPr lang="ca-ES"/>
              <a:t>Feu clic aquí per editar l'estil</a:t>
            </a:r>
            <a:endParaRPr lang="en-US"/>
          </a:p>
        </p:txBody>
      </p:sp>
      <p:sp>
        <p:nvSpPr>
          <p:cNvPr id="3" name="Contenidor de text 2">
            <a:extLst>
              <a:ext uri="{FF2B5EF4-FFF2-40B4-BE49-F238E27FC236}">
                <a16:creationId xmlns:a16="http://schemas.microsoft.com/office/drawing/2014/main" id="{B636E7C2-B428-482F-8291-EEB70E766778}"/>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ca-ES"/>
              <a:t>Feu clic per editar els estils del text del patró</a:t>
            </a:r>
          </a:p>
        </p:txBody>
      </p:sp>
      <p:sp>
        <p:nvSpPr>
          <p:cNvPr id="4" name="Contenidor de contingut 3">
            <a:extLst>
              <a:ext uri="{FF2B5EF4-FFF2-40B4-BE49-F238E27FC236}">
                <a16:creationId xmlns:a16="http://schemas.microsoft.com/office/drawing/2014/main" id="{163EC390-DB29-4C6A-80E2-090BE23C9F4A}"/>
              </a:ext>
            </a:extLst>
          </p:cNvPr>
          <p:cNvSpPr>
            <a:spLocks noGrp="1"/>
          </p:cNvSpPr>
          <p:nvPr>
            <p:ph sz="half" idx="2"/>
          </p:nvPr>
        </p:nvSpPr>
        <p:spPr>
          <a:xfrm>
            <a:off x="629842" y="2505075"/>
            <a:ext cx="3868340" cy="368458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endParaRPr lang="en-US"/>
          </a:p>
        </p:txBody>
      </p:sp>
      <p:sp>
        <p:nvSpPr>
          <p:cNvPr id="5" name="Contenidor de text 4">
            <a:extLst>
              <a:ext uri="{FF2B5EF4-FFF2-40B4-BE49-F238E27FC236}">
                <a16:creationId xmlns:a16="http://schemas.microsoft.com/office/drawing/2014/main" id="{AB250312-AF71-4ABD-B08E-27BFF3E3537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ca-ES"/>
              <a:t>Feu clic per editar els estils del text del patró</a:t>
            </a:r>
          </a:p>
        </p:txBody>
      </p:sp>
      <p:sp>
        <p:nvSpPr>
          <p:cNvPr id="6" name="Contenidor de contingut 5">
            <a:extLst>
              <a:ext uri="{FF2B5EF4-FFF2-40B4-BE49-F238E27FC236}">
                <a16:creationId xmlns:a16="http://schemas.microsoft.com/office/drawing/2014/main" id="{538B6FBB-FD01-4B92-9434-D58E0DCCC2C3}"/>
              </a:ext>
            </a:extLst>
          </p:cNvPr>
          <p:cNvSpPr>
            <a:spLocks noGrp="1"/>
          </p:cNvSpPr>
          <p:nvPr>
            <p:ph sz="quarter" idx="4"/>
          </p:nvPr>
        </p:nvSpPr>
        <p:spPr>
          <a:xfrm>
            <a:off x="4629150" y="2505075"/>
            <a:ext cx="3887391" cy="368458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endParaRPr lang="en-US"/>
          </a:p>
        </p:txBody>
      </p:sp>
      <p:sp>
        <p:nvSpPr>
          <p:cNvPr id="7" name="Contenidor de data 6">
            <a:extLst>
              <a:ext uri="{FF2B5EF4-FFF2-40B4-BE49-F238E27FC236}">
                <a16:creationId xmlns:a16="http://schemas.microsoft.com/office/drawing/2014/main" id="{E7727637-B58D-4D4E-8973-802356402AA0}"/>
              </a:ext>
            </a:extLst>
          </p:cNvPr>
          <p:cNvSpPr>
            <a:spLocks noGrp="1"/>
          </p:cNvSpPr>
          <p:nvPr>
            <p:ph type="dt" sz="half" idx="10"/>
          </p:nvPr>
        </p:nvSpPr>
        <p:spPr/>
        <p:txBody>
          <a:bodyPr/>
          <a:lstStyle/>
          <a:p>
            <a:fld id="{EF387618-D9D0-4ECC-91E4-590420D384A5}" type="datetimeFigureOut">
              <a:rPr lang="en-US" smtClean="0"/>
              <a:t>11/13/2019</a:t>
            </a:fld>
            <a:endParaRPr lang="en-US"/>
          </a:p>
        </p:txBody>
      </p:sp>
      <p:sp>
        <p:nvSpPr>
          <p:cNvPr id="8" name="Contenidor de peu de pàgina 7">
            <a:extLst>
              <a:ext uri="{FF2B5EF4-FFF2-40B4-BE49-F238E27FC236}">
                <a16:creationId xmlns:a16="http://schemas.microsoft.com/office/drawing/2014/main" id="{6B11F145-508F-4EC1-9C15-244CFBC4FA5F}"/>
              </a:ext>
            </a:extLst>
          </p:cNvPr>
          <p:cNvSpPr>
            <a:spLocks noGrp="1"/>
          </p:cNvSpPr>
          <p:nvPr>
            <p:ph type="ftr" sz="quarter" idx="11"/>
          </p:nvPr>
        </p:nvSpPr>
        <p:spPr/>
        <p:txBody>
          <a:bodyPr/>
          <a:lstStyle/>
          <a:p>
            <a:endParaRPr lang="en-US"/>
          </a:p>
        </p:txBody>
      </p:sp>
      <p:sp>
        <p:nvSpPr>
          <p:cNvPr id="9" name="Contenidor de número de diapositiva 8">
            <a:extLst>
              <a:ext uri="{FF2B5EF4-FFF2-40B4-BE49-F238E27FC236}">
                <a16:creationId xmlns:a16="http://schemas.microsoft.com/office/drawing/2014/main" id="{D267DEDC-9D18-49D8-AA63-5A07EF8C2A89}"/>
              </a:ext>
            </a:extLst>
          </p:cNvPr>
          <p:cNvSpPr>
            <a:spLocks noGrp="1"/>
          </p:cNvSpPr>
          <p:nvPr>
            <p:ph type="sldNum" sz="quarter" idx="12"/>
          </p:nvPr>
        </p:nvSpPr>
        <p:spPr/>
        <p:txBody>
          <a:bodyPr/>
          <a:lstStyle/>
          <a:p>
            <a:fld id="{1F8DADBF-4F00-4C58-83FB-CD03D03D19CF}" type="slidenum">
              <a:rPr lang="en-US" smtClean="0"/>
              <a:t>‹#›</a:t>
            </a:fld>
            <a:endParaRPr lang="en-US"/>
          </a:p>
        </p:txBody>
      </p:sp>
    </p:spTree>
    <p:extLst>
      <p:ext uri="{BB962C8B-B14F-4D97-AF65-F5344CB8AC3E}">
        <p14:creationId xmlns:p14="http://schemas.microsoft.com/office/powerpoint/2010/main" val="1085998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omés títo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97F6747D-F135-40DC-BE2E-E7ADE9BFD51E}"/>
              </a:ext>
            </a:extLst>
          </p:cNvPr>
          <p:cNvSpPr>
            <a:spLocks noGrp="1"/>
          </p:cNvSpPr>
          <p:nvPr>
            <p:ph type="title"/>
          </p:nvPr>
        </p:nvSpPr>
        <p:spPr/>
        <p:txBody>
          <a:bodyPr/>
          <a:lstStyle/>
          <a:p>
            <a:r>
              <a:rPr lang="ca-ES"/>
              <a:t>Feu clic aquí per editar l'estil</a:t>
            </a:r>
            <a:endParaRPr lang="en-US"/>
          </a:p>
        </p:txBody>
      </p:sp>
      <p:sp>
        <p:nvSpPr>
          <p:cNvPr id="3" name="Contenidor de data 2">
            <a:extLst>
              <a:ext uri="{FF2B5EF4-FFF2-40B4-BE49-F238E27FC236}">
                <a16:creationId xmlns:a16="http://schemas.microsoft.com/office/drawing/2014/main" id="{95AA3A59-E5AD-439A-B724-95F8F6D2D4F0}"/>
              </a:ext>
            </a:extLst>
          </p:cNvPr>
          <p:cNvSpPr>
            <a:spLocks noGrp="1"/>
          </p:cNvSpPr>
          <p:nvPr>
            <p:ph type="dt" sz="half" idx="10"/>
          </p:nvPr>
        </p:nvSpPr>
        <p:spPr/>
        <p:txBody>
          <a:bodyPr/>
          <a:lstStyle/>
          <a:p>
            <a:fld id="{EF387618-D9D0-4ECC-91E4-590420D384A5}" type="datetimeFigureOut">
              <a:rPr lang="en-US" smtClean="0"/>
              <a:t>11/13/2019</a:t>
            </a:fld>
            <a:endParaRPr lang="en-US"/>
          </a:p>
        </p:txBody>
      </p:sp>
      <p:sp>
        <p:nvSpPr>
          <p:cNvPr id="4" name="Contenidor de peu de pàgina 3">
            <a:extLst>
              <a:ext uri="{FF2B5EF4-FFF2-40B4-BE49-F238E27FC236}">
                <a16:creationId xmlns:a16="http://schemas.microsoft.com/office/drawing/2014/main" id="{D2E91202-5FCA-46A5-BEA5-43EA3052B6CB}"/>
              </a:ext>
            </a:extLst>
          </p:cNvPr>
          <p:cNvSpPr>
            <a:spLocks noGrp="1"/>
          </p:cNvSpPr>
          <p:nvPr>
            <p:ph type="ftr" sz="quarter" idx="11"/>
          </p:nvPr>
        </p:nvSpPr>
        <p:spPr/>
        <p:txBody>
          <a:bodyPr/>
          <a:lstStyle/>
          <a:p>
            <a:endParaRPr lang="en-US"/>
          </a:p>
        </p:txBody>
      </p:sp>
      <p:sp>
        <p:nvSpPr>
          <p:cNvPr id="5" name="Contenidor de número de diapositiva 4">
            <a:extLst>
              <a:ext uri="{FF2B5EF4-FFF2-40B4-BE49-F238E27FC236}">
                <a16:creationId xmlns:a16="http://schemas.microsoft.com/office/drawing/2014/main" id="{429877F4-1B6E-4C2D-811F-20FBC293A8A6}"/>
              </a:ext>
            </a:extLst>
          </p:cNvPr>
          <p:cNvSpPr>
            <a:spLocks noGrp="1"/>
          </p:cNvSpPr>
          <p:nvPr>
            <p:ph type="sldNum" sz="quarter" idx="12"/>
          </p:nvPr>
        </p:nvSpPr>
        <p:spPr/>
        <p:txBody>
          <a:bodyPr/>
          <a:lstStyle/>
          <a:p>
            <a:fld id="{1F8DADBF-4F00-4C58-83FB-CD03D03D19CF}" type="slidenum">
              <a:rPr lang="en-US" smtClean="0"/>
              <a:t>‹#›</a:t>
            </a:fld>
            <a:endParaRPr lang="en-US"/>
          </a:p>
        </p:txBody>
      </p:sp>
    </p:spTree>
    <p:extLst>
      <p:ext uri="{BB962C8B-B14F-4D97-AF65-F5344CB8AC3E}">
        <p14:creationId xmlns:p14="http://schemas.microsoft.com/office/powerpoint/2010/main" val="18074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
    <p:spTree>
      <p:nvGrpSpPr>
        <p:cNvPr id="1" name=""/>
        <p:cNvGrpSpPr/>
        <p:nvPr/>
      </p:nvGrpSpPr>
      <p:grpSpPr>
        <a:xfrm>
          <a:off x="0" y="0"/>
          <a:ext cx="0" cy="0"/>
          <a:chOff x="0" y="0"/>
          <a:chExt cx="0" cy="0"/>
        </a:xfrm>
      </p:grpSpPr>
      <p:sp>
        <p:nvSpPr>
          <p:cNvPr id="2" name="Contenidor de data 1">
            <a:extLst>
              <a:ext uri="{FF2B5EF4-FFF2-40B4-BE49-F238E27FC236}">
                <a16:creationId xmlns:a16="http://schemas.microsoft.com/office/drawing/2014/main" id="{8F0AD058-D777-42F1-9F56-4EEED7E1D052}"/>
              </a:ext>
            </a:extLst>
          </p:cNvPr>
          <p:cNvSpPr>
            <a:spLocks noGrp="1"/>
          </p:cNvSpPr>
          <p:nvPr>
            <p:ph type="dt" sz="half" idx="10"/>
          </p:nvPr>
        </p:nvSpPr>
        <p:spPr/>
        <p:txBody>
          <a:bodyPr/>
          <a:lstStyle/>
          <a:p>
            <a:fld id="{EF387618-D9D0-4ECC-91E4-590420D384A5}" type="datetimeFigureOut">
              <a:rPr lang="en-US" smtClean="0"/>
              <a:t>11/13/2019</a:t>
            </a:fld>
            <a:endParaRPr lang="en-US"/>
          </a:p>
        </p:txBody>
      </p:sp>
      <p:sp>
        <p:nvSpPr>
          <p:cNvPr id="3" name="Contenidor de peu de pàgina 2">
            <a:extLst>
              <a:ext uri="{FF2B5EF4-FFF2-40B4-BE49-F238E27FC236}">
                <a16:creationId xmlns:a16="http://schemas.microsoft.com/office/drawing/2014/main" id="{2BB38518-0A9C-4FFB-A991-332A8785C693}"/>
              </a:ext>
            </a:extLst>
          </p:cNvPr>
          <p:cNvSpPr>
            <a:spLocks noGrp="1"/>
          </p:cNvSpPr>
          <p:nvPr>
            <p:ph type="ftr" sz="quarter" idx="11"/>
          </p:nvPr>
        </p:nvSpPr>
        <p:spPr/>
        <p:txBody>
          <a:bodyPr/>
          <a:lstStyle/>
          <a:p>
            <a:endParaRPr lang="en-US"/>
          </a:p>
        </p:txBody>
      </p:sp>
      <p:sp>
        <p:nvSpPr>
          <p:cNvPr id="4" name="Contenidor de número de diapositiva 3">
            <a:extLst>
              <a:ext uri="{FF2B5EF4-FFF2-40B4-BE49-F238E27FC236}">
                <a16:creationId xmlns:a16="http://schemas.microsoft.com/office/drawing/2014/main" id="{EAFC7FFB-09CD-490D-917F-60410531D4B6}"/>
              </a:ext>
            </a:extLst>
          </p:cNvPr>
          <p:cNvSpPr>
            <a:spLocks noGrp="1"/>
          </p:cNvSpPr>
          <p:nvPr>
            <p:ph type="sldNum" sz="quarter" idx="12"/>
          </p:nvPr>
        </p:nvSpPr>
        <p:spPr/>
        <p:txBody>
          <a:bodyPr/>
          <a:lstStyle/>
          <a:p>
            <a:fld id="{1F8DADBF-4F00-4C58-83FB-CD03D03D19CF}" type="slidenum">
              <a:rPr lang="en-US" smtClean="0"/>
              <a:t>‹#›</a:t>
            </a:fld>
            <a:endParaRPr lang="en-US"/>
          </a:p>
        </p:txBody>
      </p:sp>
    </p:spTree>
    <p:extLst>
      <p:ext uri="{BB962C8B-B14F-4D97-AF65-F5344CB8AC3E}">
        <p14:creationId xmlns:p14="http://schemas.microsoft.com/office/powerpoint/2010/main" val="3844988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ingut amb llegenda">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DCC709F4-0742-4D2B-A687-FF360CAB49F3}"/>
              </a:ext>
            </a:extLst>
          </p:cNvPr>
          <p:cNvSpPr>
            <a:spLocks noGrp="1"/>
          </p:cNvSpPr>
          <p:nvPr>
            <p:ph type="title"/>
          </p:nvPr>
        </p:nvSpPr>
        <p:spPr>
          <a:xfrm>
            <a:off x="629841" y="457200"/>
            <a:ext cx="2949178" cy="1600200"/>
          </a:xfrm>
        </p:spPr>
        <p:txBody>
          <a:bodyPr anchor="b"/>
          <a:lstStyle>
            <a:lvl1pPr>
              <a:defRPr sz="2400"/>
            </a:lvl1pPr>
          </a:lstStyle>
          <a:p>
            <a:r>
              <a:rPr lang="ca-ES"/>
              <a:t>Feu clic aquí per editar l'estil</a:t>
            </a:r>
            <a:endParaRPr lang="en-US"/>
          </a:p>
        </p:txBody>
      </p:sp>
      <p:sp>
        <p:nvSpPr>
          <p:cNvPr id="3" name="Contenidor de contingut 2">
            <a:extLst>
              <a:ext uri="{FF2B5EF4-FFF2-40B4-BE49-F238E27FC236}">
                <a16:creationId xmlns:a16="http://schemas.microsoft.com/office/drawing/2014/main" id="{B0882BF4-93BC-4038-BCB0-75ECCF42CAA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endParaRPr lang="en-US"/>
          </a:p>
        </p:txBody>
      </p:sp>
      <p:sp>
        <p:nvSpPr>
          <p:cNvPr id="4" name="Contenidor de text 3">
            <a:extLst>
              <a:ext uri="{FF2B5EF4-FFF2-40B4-BE49-F238E27FC236}">
                <a16:creationId xmlns:a16="http://schemas.microsoft.com/office/drawing/2014/main" id="{22FF9A0C-7C50-43BE-B235-D05175EF2E8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ca-ES"/>
              <a:t>Feu clic per editar els estils del text del patró</a:t>
            </a:r>
          </a:p>
        </p:txBody>
      </p:sp>
      <p:sp>
        <p:nvSpPr>
          <p:cNvPr id="5" name="Contenidor de data 4">
            <a:extLst>
              <a:ext uri="{FF2B5EF4-FFF2-40B4-BE49-F238E27FC236}">
                <a16:creationId xmlns:a16="http://schemas.microsoft.com/office/drawing/2014/main" id="{640FAF76-0172-4403-A22A-EC8301F4BD2D}"/>
              </a:ext>
            </a:extLst>
          </p:cNvPr>
          <p:cNvSpPr>
            <a:spLocks noGrp="1"/>
          </p:cNvSpPr>
          <p:nvPr>
            <p:ph type="dt" sz="half" idx="10"/>
          </p:nvPr>
        </p:nvSpPr>
        <p:spPr/>
        <p:txBody>
          <a:bodyPr/>
          <a:lstStyle/>
          <a:p>
            <a:fld id="{EF387618-D9D0-4ECC-91E4-590420D384A5}" type="datetimeFigureOut">
              <a:rPr lang="en-US" smtClean="0"/>
              <a:t>11/13/2019</a:t>
            </a:fld>
            <a:endParaRPr lang="en-US"/>
          </a:p>
        </p:txBody>
      </p:sp>
      <p:sp>
        <p:nvSpPr>
          <p:cNvPr id="6" name="Contenidor de peu de pàgina 5">
            <a:extLst>
              <a:ext uri="{FF2B5EF4-FFF2-40B4-BE49-F238E27FC236}">
                <a16:creationId xmlns:a16="http://schemas.microsoft.com/office/drawing/2014/main" id="{1E0C0EAD-EAB6-4D93-85C5-E52193ABCB47}"/>
              </a:ext>
            </a:extLst>
          </p:cNvPr>
          <p:cNvSpPr>
            <a:spLocks noGrp="1"/>
          </p:cNvSpPr>
          <p:nvPr>
            <p:ph type="ftr" sz="quarter" idx="11"/>
          </p:nvPr>
        </p:nvSpPr>
        <p:spPr/>
        <p:txBody>
          <a:bodyPr/>
          <a:lstStyle/>
          <a:p>
            <a:endParaRPr lang="en-US"/>
          </a:p>
        </p:txBody>
      </p:sp>
      <p:sp>
        <p:nvSpPr>
          <p:cNvPr id="7" name="Contenidor de número de diapositiva 6">
            <a:extLst>
              <a:ext uri="{FF2B5EF4-FFF2-40B4-BE49-F238E27FC236}">
                <a16:creationId xmlns:a16="http://schemas.microsoft.com/office/drawing/2014/main" id="{5F4B9515-41A8-4DB3-8B12-254ED38549E2}"/>
              </a:ext>
            </a:extLst>
          </p:cNvPr>
          <p:cNvSpPr>
            <a:spLocks noGrp="1"/>
          </p:cNvSpPr>
          <p:nvPr>
            <p:ph type="sldNum" sz="quarter" idx="12"/>
          </p:nvPr>
        </p:nvSpPr>
        <p:spPr/>
        <p:txBody>
          <a:bodyPr/>
          <a:lstStyle/>
          <a:p>
            <a:fld id="{1F8DADBF-4F00-4C58-83FB-CD03D03D19CF}" type="slidenum">
              <a:rPr lang="en-US" smtClean="0"/>
              <a:t>‹#›</a:t>
            </a:fld>
            <a:endParaRPr lang="en-US"/>
          </a:p>
        </p:txBody>
      </p:sp>
    </p:spTree>
    <p:extLst>
      <p:ext uri="{BB962C8B-B14F-4D97-AF65-F5344CB8AC3E}">
        <p14:creationId xmlns:p14="http://schemas.microsoft.com/office/powerpoint/2010/main" val="1685634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tge amb llegenda">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BEE56049-1EC4-4A2C-B328-010ED0A18DD4}"/>
              </a:ext>
            </a:extLst>
          </p:cNvPr>
          <p:cNvSpPr>
            <a:spLocks noGrp="1"/>
          </p:cNvSpPr>
          <p:nvPr>
            <p:ph type="title"/>
          </p:nvPr>
        </p:nvSpPr>
        <p:spPr>
          <a:xfrm>
            <a:off x="629841" y="457200"/>
            <a:ext cx="2949178" cy="1600200"/>
          </a:xfrm>
        </p:spPr>
        <p:txBody>
          <a:bodyPr anchor="b"/>
          <a:lstStyle>
            <a:lvl1pPr>
              <a:defRPr sz="2400"/>
            </a:lvl1pPr>
          </a:lstStyle>
          <a:p>
            <a:r>
              <a:rPr lang="ca-ES"/>
              <a:t>Feu clic aquí per editar l'estil</a:t>
            </a:r>
            <a:endParaRPr lang="en-US"/>
          </a:p>
        </p:txBody>
      </p:sp>
      <p:sp>
        <p:nvSpPr>
          <p:cNvPr id="3" name="Contenidor d'imatge 2">
            <a:extLst>
              <a:ext uri="{FF2B5EF4-FFF2-40B4-BE49-F238E27FC236}">
                <a16:creationId xmlns:a16="http://schemas.microsoft.com/office/drawing/2014/main" id="{92B5379C-5EE5-4401-BADD-8F38BE79D2A8}"/>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Contenidor de text 3">
            <a:extLst>
              <a:ext uri="{FF2B5EF4-FFF2-40B4-BE49-F238E27FC236}">
                <a16:creationId xmlns:a16="http://schemas.microsoft.com/office/drawing/2014/main" id="{97241D6B-E297-4021-9A15-F9DC41A6F19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ca-ES"/>
              <a:t>Feu clic per editar els estils del text del patró</a:t>
            </a:r>
          </a:p>
        </p:txBody>
      </p:sp>
      <p:sp>
        <p:nvSpPr>
          <p:cNvPr id="5" name="Contenidor de data 4">
            <a:extLst>
              <a:ext uri="{FF2B5EF4-FFF2-40B4-BE49-F238E27FC236}">
                <a16:creationId xmlns:a16="http://schemas.microsoft.com/office/drawing/2014/main" id="{97CAB1FD-BFA4-4B64-9C9F-83544A601078}"/>
              </a:ext>
            </a:extLst>
          </p:cNvPr>
          <p:cNvSpPr>
            <a:spLocks noGrp="1"/>
          </p:cNvSpPr>
          <p:nvPr>
            <p:ph type="dt" sz="half" idx="10"/>
          </p:nvPr>
        </p:nvSpPr>
        <p:spPr/>
        <p:txBody>
          <a:bodyPr/>
          <a:lstStyle/>
          <a:p>
            <a:fld id="{EF387618-D9D0-4ECC-91E4-590420D384A5}" type="datetimeFigureOut">
              <a:rPr lang="en-US" smtClean="0"/>
              <a:t>11/13/2019</a:t>
            </a:fld>
            <a:endParaRPr lang="en-US"/>
          </a:p>
        </p:txBody>
      </p:sp>
      <p:sp>
        <p:nvSpPr>
          <p:cNvPr id="6" name="Contenidor de peu de pàgina 5">
            <a:extLst>
              <a:ext uri="{FF2B5EF4-FFF2-40B4-BE49-F238E27FC236}">
                <a16:creationId xmlns:a16="http://schemas.microsoft.com/office/drawing/2014/main" id="{5314DD10-3CCB-4BAE-B79E-3EA0B4E5B1B9}"/>
              </a:ext>
            </a:extLst>
          </p:cNvPr>
          <p:cNvSpPr>
            <a:spLocks noGrp="1"/>
          </p:cNvSpPr>
          <p:nvPr>
            <p:ph type="ftr" sz="quarter" idx="11"/>
          </p:nvPr>
        </p:nvSpPr>
        <p:spPr/>
        <p:txBody>
          <a:bodyPr/>
          <a:lstStyle/>
          <a:p>
            <a:endParaRPr lang="en-US"/>
          </a:p>
        </p:txBody>
      </p:sp>
      <p:sp>
        <p:nvSpPr>
          <p:cNvPr id="7" name="Contenidor de número de diapositiva 6">
            <a:extLst>
              <a:ext uri="{FF2B5EF4-FFF2-40B4-BE49-F238E27FC236}">
                <a16:creationId xmlns:a16="http://schemas.microsoft.com/office/drawing/2014/main" id="{DE5D9B44-8C88-4609-9535-0A8FFB16360B}"/>
              </a:ext>
            </a:extLst>
          </p:cNvPr>
          <p:cNvSpPr>
            <a:spLocks noGrp="1"/>
          </p:cNvSpPr>
          <p:nvPr>
            <p:ph type="sldNum" sz="quarter" idx="12"/>
          </p:nvPr>
        </p:nvSpPr>
        <p:spPr/>
        <p:txBody>
          <a:bodyPr/>
          <a:lstStyle/>
          <a:p>
            <a:fld id="{1F8DADBF-4F00-4C58-83FB-CD03D03D19CF}" type="slidenum">
              <a:rPr lang="en-US" smtClean="0"/>
              <a:t>‹#›</a:t>
            </a:fld>
            <a:endParaRPr lang="en-US"/>
          </a:p>
        </p:txBody>
      </p:sp>
    </p:spTree>
    <p:extLst>
      <p:ext uri="{BB962C8B-B14F-4D97-AF65-F5344CB8AC3E}">
        <p14:creationId xmlns:p14="http://schemas.microsoft.com/office/powerpoint/2010/main" val="803224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ol i text vertica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0BF5CC82-F730-4833-90F7-B21F5A21C4CA}"/>
              </a:ext>
            </a:extLst>
          </p:cNvPr>
          <p:cNvSpPr>
            <a:spLocks noGrp="1"/>
          </p:cNvSpPr>
          <p:nvPr>
            <p:ph type="title"/>
          </p:nvPr>
        </p:nvSpPr>
        <p:spPr/>
        <p:txBody>
          <a:bodyPr/>
          <a:lstStyle/>
          <a:p>
            <a:r>
              <a:rPr lang="ca-ES"/>
              <a:t>Feu clic aquí per editar l'estil</a:t>
            </a:r>
            <a:endParaRPr lang="en-US"/>
          </a:p>
        </p:txBody>
      </p:sp>
      <p:sp>
        <p:nvSpPr>
          <p:cNvPr id="3" name="Contenidor de text vertical 2">
            <a:extLst>
              <a:ext uri="{FF2B5EF4-FFF2-40B4-BE49-F238E27FC236}">
                <a16:creationId xmlns:a16="http://schemas.microsoft.com/office/drawing/2014/main" id="{739EC210-D4DC-4ECD-91F6-BB99813FC8CE}"/>
              </a:ext>
            </a:extLst>
          </p:cNvPr>
          <p:cNvSpPr>
            <a:spLocks noGrp="1"/>
          </p:cNvSpPr>
          <p:nvPr>
            <p:ph type="body" orient="vert" idx="1"/>
          </p:nvPr>
        </p:nvSpPr>
        <p:spPr/>
        <p:txBody>
          <a:bodyPr vert="eaVert"/>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endParaRPr lang="en-US"/>
          </a:p>
        </p:txBody>
      </p:sp>
      <p:sp>
        <p:nvSpPr>
          <p:cNvPr id="4" name="Contenidor de data 3">
            <a:extLst>
              <a:ext uri="{FF2B5EF4-FFF2-40B4-BE49-F238E27FC236}">
                <a16:creationId xmlns:a16="http://schemas.microsoft.com/office/drawing/2014/main" id="{726EC629-ABB4-4DAD-A729-C98F1FDEF6F0}"/>
              </a:ext>
            </a:extLst>
          </p:cNvPr>
          <p:cNvSpPr>
            <a:spLocks noGrp="1"/>
          </p:cNvSpPr>
          <p:nvPr>
            <p:ph type="dt" sz="half" idx="10"/>
          </p:nvPr>
        </p:nvSpPr>
        <p:spPr/>
        <p:txBody>
          <a:bodyPr/>
          <a:lstStyle/>
          <a:p>
            <a:fld id="{EF387618-D9D0-4ECC-91E4-590420D384A5}" type="datetimeFigureOut">
              <a:rPr lang="en-US" smtClean="0"/>
              <a:t>11/13/2019</a:t>
            </a:fld>
            <a:endParaRPr lang="en-US"/>
          </a:p>
        </p:txBody>
      </p:sp>
      <p:sp>
        <p:nvSpPr>
          <p:cNvPr id="5" name="Contenidor de peu de pàgina 4">
            <a:extLst>
              <a:ext uri="{FF2B5EF4-FFF2-40B4-BE49-F238E27FC236}">
                <a16:creationId xmlns:a16="http://schemas.microsoft.com/office/drawing/2014/main" id="{170F414A-3CEF-4BCC-B595-5211275B1E48}"/>
              </a:ext>
            </a:extLst>
          </p:cNvPr>
          <p:cNvSpPr>
            <a:spLocks noGrp="1"/>
          </p:cNvSpPr>
          <p:nvPr>
            <p:ph type="ftr" sz="quarter" idx="11"/>
          </p:nvPr>
        </p:nvSpPr>
        <p:spPr/>
        <p:txBody>
          <a:bodyPr/>
          <a:lstStyle/>
          <a:p>
            <a:endParaRPr lang="en-US"/>
          </a:p>
        </p:txBody>
      </p:sp>
      <p:sp>
        <p:nvSpPr>
          <p:cNvPr id="6" name="Contenidor de número de diapositiva 5">
            <a:extLst>
              <a:ext uri="{FF2B5EF4-FFF2-40B4-BE49-F238E27FC236}">
                <a16:creationId xmlns:a16="http://schemas.microsoft.com/office/drawing/2014/main" id="{90DBC4EF-94E0-465D-9501-60D2319C92DE}"/>
              </a:ext>
            </a:extLst>
          </p:cNvPr>
          <p:cNvSpPr>
            <a:spLocks noGrp="1"/>
          </p:cNvSpPr>
          <p:nvPr>
            <p:ph type="sldNum" sz="quarter" idx="12"/>
          </p:nvPr>
        </p:nvSpPr>
        <p:spPr/>
        <p:txBody>
          <a:bodyPr/>
          <a:lstStyle/>
          <a:p>
            <a:fld id="{1F8DADBF-4F00-4C58-83FB-CD03D03D19CF}" type="slidenum">
              <a:rPr lang="en-US" smtClean="0"/>
              <a:t>‹#›</a:t>
            </a:fld>
            <a:endParaRPr lang="en-US"/>
          </a:p>
        </p:txBody>
      </p:sp>
    </p:spTree>
    <p:extLst>
      <p:ext uri="{BB962C8B-B14F-4D97-AF65-F5344CB8AC3E}">
        <p14:creationId xmlns:p14="http://schemas.microsoft.com/office/powerpoint/2010/main" val="291816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ol vertical i text">
    <p:spTree>
      <p:nvGrpSpPr>
        <p:cNvPr id="1" name=""/>
        <p:cNvGrpSpPr/>
        <p:nvPr/>
      </p:nvGrpSpPr>
      <p:grpSpPr>
        <a:xfrm>
          <a:off x="0" y="0"/>
          <a:ext cx="0" cy="0"/>
          <a:chOff x="0" y="0"/>
          <a:chExt cx="0" cy="0"/>
        </a:xfrm>
      </p:grpSpPr>
      <p:sp>
        <p:nvSpPr>
          <p:cNvPr id="2" name="Títol vertical 1">
            <a:extLst>
              <a:ext uri="{FF2B5EF4-FFF2-40B4-BE49-F238E27FC236}">
                <a16:creationId xmlns:a16="http://schemas.microsoft.com/office/drawing/2014/main" id="{32EF4C59-2026-4DA5-920B-5AD7F48FAA4E}"/>
              </a:ext>
            </a:extLst>
          </p:cNvPr>
          <p:cNvSpPr>
            <a:spLocks noGrp="1"/>
          </p:cNvSpPr>
          <p:nvPr>
            <p:ph type="title" orient="vert"/>
          </p:nvPr>
        </p:nvSpPr>
        <p:spPr>
          <a:xfrm>
            <a:off x="6543675" y="365125"/>
            <a:ext cx="1971675" cy="5811838"/>
          </a:xfrm>
        </p:spPr>
        <p:txBody>
          <a:bodyPr vert="eaVert"/>
          <a:lstStyle/>
          <a:p>
            <a:r>
              <a:rPr lang="ca-ES"/>
              <a:t>Feu clic aquí per editar l'estil</a:t>
            </a:r>
            <a:endParaRPr lang="en-US"/>
          </a:p>
        </p:txBody>
      </p:sp>
      <p:sp>
        <p:nvSpPr>
          <p:cNvPr id="3" name="Contenidor de text vertical 2">
            <a:extLst>
              <a:ext uri="{FF2B5EF4-FFF2-40B4-BE49-F238E27FC236}">
                <a16:creationId xmlns:a16="http://schemas.microsoft.com/office/drawing/2014/main" id="{4D55A195-E579-4997-90C6-472F7805AF9A}"/>
              </a:ext>
            </a:extLst>
          </p:cNvPr>
          <p:cNvSpPr>
            <a:spLocks noGrp="1"/>
          </p:cNvSpPr>
          <p:nvPr>
            <p:ph type="body" orient="vert" idx="1"/>
          </p:nvPr>
        </p:nvSpPr>
        <p:spPr>
          <a:xfrm>
            <a:off x="628650" y="365125"/>
            <a:ext cx="5800725" cy="5811838"/>
          </a:xfrm>
        </p:spPr>
        <p:txBody>
          <a:bodyPr vert="eaVert"/>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endParaRPr lang="en-US"/>
          </a:p>
        </p:txBody>
      </p:sp>
      <p:sp>
        <p:nvSpPr>
          <p:cNvPr id="4" name="Contenidor de data 3">
            <a:extLst>
              <a:ext uri="{FF2B5EF4-FFF2-40B4-BE49-F238E27FC236}">
                <a16:creationId xmlns:a16="http://schemas.microsoft.com/office/drawing/2014/main" id="{F2CE1439-1303-43B9-909D-AA25E6C3576E}"/>
              </a:ext>
            </a:extLst>
          </p:cNvPr>
          <p:cNvSpPr>
            <a:spLocks noGrp="1"/>
          </p:cNvSpPr>
          <p:nvPr>
            <p:ph type="dt" sz="half" idx="10"/>
          </p:nvPr>
        </p:nvSpPr>
        <p:spPr/>
        <p:txBody>
          <a:bodyPr/>
          <a:lstStyle/>
          <a:p>
            <a:fld id="{EF387618-D9D0-4ECC-91E4-590420D384A5}" type="datetimeFigureOut">
              <a:rPr lang="en-US" smtClean="0"/>
              <a:t>11/13/2019</a:t>
            </a:fld>
            <a:endParaRPr lang="en-US"/>
          </a:p>
        </p:txBody>
      </p:sp>
      <p:sp>
        <p:nvSpPr>
          <p:cNvPr id="5" name="Contenidor de peu de pàgina 4">
            <a:extLst>
              <a:ext uri="{FF2B5EF4-FFF2-40B4-BE49-F238E27FC236}">
                <a16:creationId xmlns:a16="http://schemas.microsoft.com/office/drawing/2014/main" id="{C544E097-5695-47AE-AAF4-1F4C9438779A}"/>
              </a:ext>
            </a:extLst>
          </p:cNvPr>
          <p:cNvSpPr>
            <a:spLocks noGrp="1"/>
          </p:cNvSpPr>
          <p:nvPr>
            <p:ph type="ftr" sz="quarter" idx="11"/>
          </p:nvPr>
        </p:nvSpPr>
        <p:spPr/>
        <p:txBody>
          <a:bodyPr/>
          <a:lstStyle/>
          <a:p>
            <a:endParaRPr lang="en-US"/>
          </a:p>
        </p:txBody>
      </p:sp>
      <p:sp>
        <p:nvSpPr>
          <p:cNvPr id="6" name="Contenidor de número de diapositiva 5">
            <a:extLst>
              <a:ext uri="{FF2B5EF4-FFF2-40B4-BE49-F238E27FC236}">
                <a16:creationId xmlns:a16="http://schemas.microsoft.com/office/drawing/2014/main" id="{A54D7065-EAE9-4EEF-9924-18CA196AAC8D}"/>
              </a:ext>
            </a:extLst>
          </p:cNvPr>
          <p:cNvSpPr>
            <a:spLocks noGrp="1"/>
          </p:cNvSpPr>
          <p:nvPr>
            <p:ph type="sldNum" sz="quarter" idx="12"/>
          </p:nvPr>
        </p:nvSpPr>
        <p:spPr/>
        <p:txBody>
          <a:bodyPr/>
          <a:lstStyle/>
          <a:p>
            <a:fld id="{1F8DADBF-4F00-4C58-83FB-CD03D03D19CF}" type="slidenum">
              <a:rPr lang="en-US" smtClean="0"/>
              <a:t>‹#›</a:t>
            </a:fld>
            <a:endParaRPr lang="en-US"/>
          </a:p>
        </p:txBody>
      </p:sp>
    </p:spTree>
    <p:extLst>
      <p:ext uri="{BB962C8B-B14F-4D97-AF65-F5344CB8AC3E}">
        <p14:creationId xmlns:p14="http://schemas.microsoft.com/office/powerpoint/2010/main" val="3704399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ontenidor de títol 1">
            <a:extLst>
              <a:ext uri="{FF2B5EF4-FFF2-40B4-BE49-F238E27FC236}">
                <a16:creationId xmlns:a16="http://schemas.microsoft.com/office/drawing/2014/main" id="{DE2EB9B1-D306-4163-8141-FB4C1C47C2F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ca-ES"/>
              <a:t>Feu clic aquí per editar l'estil</a:t>
            </a:r>
            <a:endParaRPr lang="en-US"/>
          </a:p>
        </p:txBody>
      </p:sp>
      <p:sp>
        <p:nvSpPr>
          <p:cNvPr id="3" name="Contenidor de text 2">
            <a:extLst>
              <a:ext uri="{FF2B5EF4-FFF2-40B4-BE49-F238E27FC236}">
                <a16:creationId xmlns:a16="http://schemas.microsoft.com/office/drawing/2014/main" id="{47367D3D-47C5-4982-87CE-6EC1562BCE7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endParaRPr lang="en-US"/>
          </a:p>
        </p:txBody>
      </p:sp>
      <p:sp>
        <p:nvSpPr>
          <p:cNvPr id="4" name="Contenidor de data 3">
            <a:extLst>
              <a:ext uri="{FF2B5EF4-FFF2-40B4-BE49-F238E27FC236}">
                <a16:creationId xmlns:a16="http://schemas.microsoft.com/office/drawing/2014/main" id="{E14A2495-91C8-4646-B594-FB758DD9CE26}"/>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F387618-D9D0-4ECC-91E4-590420D384A5}" type="datetimeFigureOut">
              <a:rPr lang="en-US" smtClean="0"/>
              <a:t>11/13/2019</a:t>
            </a:fld>
            <a:endParaRPr lang="en-US"/>
          </a:p>
        </p:txBody>
      </p:sp>
      <p:sp>
        <p:nvSpPr>
          <p:cNvPr id="5" name="Contenidor de peu de pàgina 4">
            <a:extLst>
              <a:ext uri="{FF2B5EF4-FFF2-40B4-BE49-F238E27FC236}">
                <a16:creationId xmlns:a16="http://schemas.microsoft.com/office/drawing/2014/main" id="{D7A582C3-7F97-4AB6-9AA0-C7B44CD971E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Contenidor de número de diapositiva 5">
            <a:extLst>
              <a:ext uri="{FF2B5EF4-FFF2-40B4-BE49-F238E27FC236}">
                <a16:creationId xmlns:a16="http://schemas.microsoft.com/office/drawing/2014/main" id="{8793AE75-BE66-4573-8C6A-2D06E9ADD69E}"/>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F8DADBF-4F00-4C58-83FB-CD03D03D19CF}" type="slidenum">
              <a:rPr lang="en-US" smtClean="0"/>
              <a:t>‹#›</a:t>
            </a:fld>
            <a:endParaRPr lang="en-US"/>
          </a:p>
        </p:txBody>
      </p:sp>
    </p:spTree>
    <p:extLst>
      <p:ext uri="{BB962C8B-B14F-4D97-AF65-F5344CB8AC3E}">
        <p14:creationId xmlns:p14="http://schemas.microsoft.com/office/powerpoint/2010/main" val="271016939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ca-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Agrupa 17">
            <a:extLst>
              <a:ext uri="{FF2B5EF4-FFF2-40B4-BE49-F238E27FC236}">
                <a16:creationId xmlns:a16="http://schemas.microsoft.com/office/drawing/2014/main" id="{8DC56572-9667-4286-B86B-79987266DDAB}"/>
              </a:ext>
            </a:extLst>
          </p:cNvPr>
          <p:cNvGrpSpPr/>
          <p:nvPr/>
        </p:nvGrpSpPr>
        <p:grpSpPr>
          <a:xfrm>
            <a:off x="1303688" y="411060"/>
            <a:ext cx="6439740" cy="6318537"/>
            <a:chOff x="1303688" y="411060"/>
            <a:chExt cx="6439740" cy="6318537"/>
          </a:xfrm>
        </p:grpSpPr>
        <p:pic>
          <p:nvPicPr>
            <p:cNvPr id="4" name="Imatge 3">
              <a:extLst>
                <a:ext uri="{FF2B5EF4-FFF2-40B4-BE49-F238E27FC236}">
                  <a16:creationId xmlns:a16="http://schemas.microsoft.com/office/drawing/2014/main" id="{8211EFC8-9F44-414C-B5D4-6B19DB8D800E}"/>
                </a:ext>
              </a:extLst>
            </p:cNvPr>
            <p:cNvPicPr>
              <a:picLocks noChangeAspect="1"/>
            </p:cNvPicPr>
            <p:nvPr/>
          </p:nvPicPr>
          <p:blipFill>
            <a:blip r:embed="rId2"/>
            <a:stretch>
              <a:fillRect/>
            </a:stretch>
          </p:blipFill>
          <p:spPr>
            <a:xfrm>
              <a:off x="1400571" y="1423571"/>
              <a:ext cx="6342857" cy="3809524"/>
            </a:xfrm>
            <a:prstGeom prst="rect">
              <a:avLst/>
            </a:prstGeom>
          </p:spPr>
        </p:pic>
        <p:sp>
          <p:nvSpPr>
            <p:cNvPr id="5" name="QuadreDeText 4">
              <a:extLst>
                <a:ext uri="{FF2B5EF4-FFF2-40B4-BE49-F238E27FC236}">
                  <a16:creationId xmlns:a16="http://schemas.microsoft.com/office/drawing/2014/main" id="{8132841A-121D-4433-B275-AFB031032420}"/>
                </a:ext>
              </a:extLst>
            </p:cNvPr>
            <p:cNvSpPr txBox="1"/>
            <p:nvPr/>
          </p:nvSpPr>
          <p:spPr>
            <a:xfrm flipH="1">
              <a:off x="5305617" y="1719744"/>
              <a:ext cx="1195851" cy="369332"/>
            </a:xfrm>
            <a:prstGeom prst="rect">
              <a:avLst/>
            </a:prstGeom>
            <a:noFill/>
          </p:spPr>
          <p:txBody>
            <a:bodyPr wrap="square" rtlCol="0">
              <a:spAutoFit/>
            </a:bodyPr>
            <a:lstStyle/>
            <a:p>
              <a:r>
                <a:rPr lang="en-US" dirty="0">
                  <a:solidFill>
                    <a:srgbClr val="FF0000"/>
                  </a:solidFill>
                </a:rPr>
                <a:t>Disease</a:t>
              </a:r>
              <a:r>
                <a:rPr lang="en-US" dirty="0"/>
                <a:t> </a:t>
              </a:r>
            </a:p>
          </p:txBody>
        </p:sp>
        <p:sp>
          <p:nvSpPr>
            <p:cNvPr id="6" name="QuadreDeText 5">
              <a:extLst>
                <a:ext uri="{FF2B5EF4-FFF2-40B4-BE49-F238E27FC236}">
                  <a16:creationId xmlns:a16="http://schemas.microsoft.com/office/drawing/2014/main" id="{FDF168C1-6B37-4E60-938A-0A0E6EF3560A}"/>
                </a:ext>
              </a:extLst>
            </p:cNvPr>
            <p:cNvSpPr txBox="1"/>
            <p:nvPr/>
          </p:nvSpPr>
          <p:spPr>
            <a:xfrm>
              <a:off x="1837580" y="411060"/>
              <a:ext cx="5905848" cy="830997"/>
            </a:xfrm>
            <a:prstGeom prst="rect">
              <a:avLst/>
            </a:prstGeom>
            <a:noFill/>
          </p:spPr>
          <p:txBody>
            <a:bodyPr wrap="square" rtlCol="0">
              <a:spAutoFit/>
            </a:bodyPr>
            <a:lstStyle/>
            <a:p>
              <a:pPr algn="ctr"/>
              <a:r>
                <a:rPr lang="en-US" sz="2400" dirty="0"/>
                <a:t>Elements of a diagnostic test based on the </a:t>
              </a:r>
            </a:p>
            <a:p>
              <a:pPr algn="ctr"/>
              <a:r>
                <a:rPr lang="en-US" sz="2400" dirty="0"/>
                <a:t>population distribution of a biomarker</a:t>
              </a:r>
            </a:p>
          </p:txBody>
        </p:sp>
        <p:sp>
          <p:nvSpPr>
            <p:cNvPr id="7" name="QuadreDeText 6">
              <a:extLst>
                <a:ext uri="{FF2B5EF4-FFF2-40B4-BE49-F238E27FC236}">
                  <a16:creationId xmlns:a16="http://schemas.microsoft.com/office/drawing/2014/main" id="{2F866AC7-732E-4861-87E8-9FE25F0B48DC}"/>
                </a:ext>
              </a:extLst>
            </p:cNvPr>
            <p:cNvSpPr txBox="1"/>
            <p:nvPr/>
          </p:nvSpPr>
          <p:spPr>
            <a:xfrm flipH="1">
              <a:off x="2151357" y="1719744"/>
              <a:ext cx="1195851" cy="369332"/>
            </a:xfrm>
            <a:prstGeom prst="rect">
              <a:avLst/>
            </a:prstGeom>
            <a:noFill/>
            <a:ln>
              <a:noFill/>
            </a:ln>
          </p:spPr>
          <p:txBody>
            <a:bodyPr wrap="square" rtlCol="0">
              <a:spAutoFit/>
            </a:bodyPr>
            <a:lstStyle/>
            <a:p>
              <a:r>
                <a:rPr lang="en-US" dirty="0">
                  <a:solidFill>
                    <a:schemeClr val="accent1">
                      <a:lumMod val="75000"/>
                    </a:schemeClr>
                  </a:solidFill>
                </a:rPr>
                <a:t>Healthy</a:t>
              </a:r>
              <a:r>
                <a:rPr lang="en-US" dirty="0"/>
                <a:t> </a:t>
              </a:r>
            </a:p>
          </p:txBody>
        </p:sp>
        <p:sp>
          <p:nvSpPr>
            <p:cNvPr id="8" name="Fletxa: dreta 7">
              <a:extLst>
                <a:ext uri="{FF2B5EF4-FFF2-40B4-BE49-F238E27FC236}">
                  <a16:creationId xmlns:a16="http://schemas.microsoft.com/office/drawing/2014/main" id="{C3079B94-06CC-4709-AFCF-1E829DB43FE7}"/>
                </a:ext>
              </a:extLst>
            </p:cNvPr>
            <p:cNvSpPr/>
            <p:nvPr/>
          </p:nvSpPr>
          <p:spPr>
            <a:xfrm>
              <a:off x="4429387" y="5402510"/>
              <a:ext cx="1585519" cy="117446"/>
            </a:xfrm>
            <a:prstGeom prst="rightArrow">
              <a:avLst/>
            </a:prstGeom>
            <a:solidFill>
              <a:srgbClr val="DF99A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recte 9">
              <a:extLst>
                <a:ext uri="{FF2B5EF4-FFF2-40B4-BE49-F238E27FC236}">
                  <a16:creationId xmlns:a16="http://schemas.microsoft.com/office/drawing/2014/main" id="{97692039-1AF1-46A8-BC9B-F06B140CE728}"/>
                </a:ext>
              </a:extLst>
            </p:cNvPr>
            <p:cNvCxnSpPr/>
            <p:nvPr/>
          </p:nvCxnSpPr>
          <p:spPr>
            <a:xfrm>
              <a:off x="4337108" y="4773336"/>
              <a:ext cx="0" cy="101506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1" name="QuadreDeText 10">
              <a:extLst>
                <a:ext uri="{FF2B5EF4-FFF2-40B4-BE49-F238E27FC236}">
                  <a16:creationId xmlns:a16="http://schemas.microsoft.com/office/drawing/2014/main" id="{9AE20C60-6DCA-4E96-8817-36C77B4844B5}"/>
                </a:ext>
              </a:extLst>
            </p:cNvPr>
            <p:cNvSpPr txBox="1"/>
            <p:nvPr/>
          </p:nvSpPr>
          <p:spPr>
            <a:xfrm>
              <a:off x="4810667" y="5529268"/>
              <a:ext cx="2932752" cy="1200329"/>
            </a:xfrm>
            <a:prstGeom prst="rect">
              <a:avLst/>
            </a:prstGeom>
            <a:noFill/>
          </p:spPr>
          <p:txBody>
            <a:bodyPr wrap="square" rtlCol="0">
              <a:spAutoFit/>
            </a:bodyPr>
            <a:lstStyle/>
            <a:p>
              <a:r>
                <a:rPr lang="en-US" dirty="0"/>
                <a:t>(+) : If the biomarker has a value higher that the critical value for defining the diagnostic</a:t>
              </a:r>
            </a:p>
          </p:txBody>
        </p:sp>
        <p:sp>
          <p:nvSpPr>
            <p:cNvPr id="12" name="Fletxa: dreta 11">
              <a:extLst>
                <a:ext uri="{FF2B5EF4-FFF2-40B4-BE49-F238E27FC236}">
                  <a16:creationId xmlns:a16="http://schemas.microsoft.com/office/drawing/2014/main" id="{4F230CF2-B646-4639-B132-0B2C615D5047}"/>
                </a:ext>
              </a:extLst>
            </p:cNvPr>
            <p:cNvSpPr/>
            <p:nvPr/>
          </p:nvSpPr>
          <p:spPr>
            <a:xfrm flipH="1">
              <a:off x="2634143" y="5402510"/>
              <a:ext cx="1585519" cy="117446"/>
            </a:xfrm>
            <a:prstGeom prst="rightArrow">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QuadreDeText 12">
              <a:extLst>
                <a:ext uri="{FF2B5EF4-FFF2-40B4-BE49-F238E27FC236}">
                  <a16:creationId xmlns:a16="http://schemas.microsoft.com/office/drawing/2014/main" id="{607C5292-B619-42FC-BBB0-EF34AA3BA0D2}"/>
                </a:ext>
              </a:extLst>
            </p:cNvPr>
            <p:cNvSpPr txBox="1"/>
            <p:nvPr/>
          </p:nvSpPr>
          <p:spPr>
            <a:xfrm>
              <a:off x="1303688" y="5529268"/>
              <a:ext cx="2932752" cy="1200329"/>
            </a:xfrm>
            <a:prstGeom prst="rect">
              <a:avLst/>
            </a:prstGeom>
            <a:noFill/>
          </p:spPr>
          <p:txBody>
            <a:bodyPr wrap="square" rtlCol="0">
              <a:spAutoFit/>
            </a:bodyPr>
            <a:lstStyle/>
            <a:p>
              <a:r>
                <a:rPr lang="en-US" dirty="0"/>
                <a:t>(-) : If the biomarker has a value lower that the critical value for defining the diagnostic</a:t>
              </a:r>
            </a:p>
          </p:txBody>
        </p:sp>
        <p:sp>
          <p:nvSpPr>
            <p:cNvPr id="14" name="QuadreDeText 13">
              <a:extLst>
                <a:ext uri="{FF2B5EF4-FFF2-40B4-BE49-F238E27FC236}">
                  <a16:creationId xmlns:a16="http://schemas.microsoft.com/office/drawing/2014/main" id="{1880638A-6204-495D-B9DE-87DA4E2BDF07}"/>
                </a:ext>
              </a:extLst>
            </p:cNvPr>
            <p:cNvSpPr txBox="1"/>
            <p:nvPr/>
          </p:nvSpPr>
          <p:spPr>
            <a:xfrm>
              <a:off x="3347207" y="3109822"/>
              <a:ext cx="872455" cy="369332"/>
            </a:xfrm>
            <a:prstGeom prst="rect">
              <a:avLst/>
            </a:prstGeom>
            <a:noFill/>
          </p:spPr>
          <p:txBody>
            <a:bodyPr wrap="square" rtlCol="0">
              <a:spAutoFit/>
            </a:bodyPr>
            <a:lstStyle/>
            <a:p>
              <a:r>
                <a:rPr lang="en-US" dirty="0"/>
                <a:t>P(-|H)</a:t>
              </a:r>
            </a:p>
          </p:txBody>
        </p:sp>
        <p:sp>
          <p:nvSpPr>
            <p:cNvPr id="15" name="QuadreDeText 14">
              <a:extLst>
                <a:ext uri="{FF2B5EF4-FFF2-40B4-BE49-F238E27FC236}">
                  <a16:creationId xmlns:a16="http://schemas.microsoft.com/office/drawing/2014/main" id="{B71EA307-499B-42B6-9BE3-BFE52A3431C9}"/>
                </a:ext>
              </a:extLst>
            </p:cNvPr>
            <p:cNvSpPr txBox="1"/>
            <p:nvPr/>
          </p:nvSpPr>
          <p:spPr>
            <a:xfrm>
              <a:off x="4672862" y="3118853"/>
              <a:ext cx="872455" cy="369332"/>
            </a:xfrm>
            <a:prstGeom prst="rect">
              <a:avLst/>
            </a:prstGeom>
            <a:noFill/>
          </p:spPr>
          <p:txBody>
            <a:bodyPr wrap="square" rtlCol="0">
              <a:spAutoFit/>
            </a:bodyPr>
            <a:lstStyle/>
            <a:p>
              <a:r>
                <a:rPr lang="en-US" dirty="0"/>
                <a:t>P(+|D)</a:t>
              </a:r>
            </a:p>
          </p:txBody>
        </p:sp>
        <p:sp>
          <p:nvSpPr>
            <p:cNvPr id="16" name="Rectangle 15">
              <a:extLst>
                <a:ext uri="{FF2B5EF4-FFF2-40B4-BE49-F238E27FC236}">
                  <a16:creationId xmlns:a16="http://schemas.microsoft.com/office/drawing/2014/main" id="{59B8FCCE-CB5F-46CC-B7F3-6F7379B22484}"/>
                </a:ext>
              </a:extLst>
            </p:cNvPr>
            <p:cNvSpPr/>
            <p:nvPr/>
          </p:nvSpPr>
          <p:spPr>
            <a:xfrm>
              <a:off x="4429387" y="4966283"/>
              <a:ext cx="872454" cy="2171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QuadreDeText 16">
              <a:extLst>
                <a:ext uri="{FF2B5EF4-FFF2-40B4-BE49-F238E27FC236}">
                  <a16:creationId xmlns:a16="http://schemas.microsoft.com/office/drawing/2014/main" id="{133A29C7-8543-4DA9-91E4-A213A3AA8D9A}"/>
                </a:ext>
              </a:extLst>
            </p:cNvPr>
            <p:cNvSpPr txBox="1"/>
            <p:nvPr/>
          </p:nvSpPr>
          <p:spPr>
            <a:xfrm>
              <a:off x="1990078" y="5005159"/>
              <a:ext cx="5751071" cy="338554"/>
            </a:xfrm>
            <a:prstGeom prst="rect">
              <a:avLst/>
            </a:prstGeom>
            <a:solidFill>
              <a:srgbClr val="FFC000"/>
            </a:solidFill>
            <a:ln>
              <a:solidFill>
                <a:schemeClr val="tx1"/>
              </a:solidFill>
            </a:ln>
          </p:spPr>
          <p:txBody>
            <a:bodyPr wrap="square" rtlCol="0">
              <a:spAutoFit/>
            </a:bodyPr>
            <a:lstStyle/>
            <a:p>
              <a:r>
                <a:rPr lang="en-US" sz="1600" dirty="0"/>
                <a:t>Biomarker (for instance a concentration, activity, fluorescence, etc.)</a:t>
              </a:r>
            </a:p>
          </p:txBody>
        </p:sp>
      </p:grpSp>
    </p:spTree>
    <p:extLst>
      <p:ext uri="{BB962C8B-B14F-4D97-AF65-F5344CB8AC3E}">
        <p14:creationId xmlns:p14="http://schemas.microsoft.com/office/powerpoint/2010/main" val="2522712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Agrupa 37">
            <a:extLst>
              <a:ext uri="{FF2B5EF4-FFF2-40B4-BE49-F238E27FC236}">
                <a16:creationId xmlns:a16="http://schemas.microsoft.com/office/drawing/2014/main" id="{01D0617C-B2F1-45E1-8982-89E04CE51546}"/>
              </a:ext>
            </a:extLst>
          </p:cNvPr>
          <p:cNvGrpSpPr/>
          <p:nvPr/>
        </p:nvGrpSpPr>
        <p:grpSpPr>
          <a:xfrm>
            <a:off x="875084" y="412933"/>
            <a:ext cx="6725782" cy="5904464"/>
            <a:chOff x="111685" y="312265"/>
            <a:chExt cx="6725782" cy="5904464"/>
          </a:xfrm>
        </p:grpSpPr>
        <p:sp>
          <p:nvSpPr>
            <p:cNvPr id="2" name="QuadreDeText 1">
              <a:extLst>
                <a:ext uri="{FF2B5EF4-FFF2-40B4-BE49-F238E27FC236}">
                  <a16:creationId xmlns:a16="http://schemas.microsoft.com/office/drawing/2014/main" id="{AE4606FE-7271-4208-98DF-7D9631B88D6E}"/>
                </a:ext>
              </a:extLst>
            </p:cNvPr>
            <p:cNvSpPr txBox="1"/>
            <p:nvPr/>
          </p:nvSpPr>
          <p:spPr>
            <a:xfrm>
              <a:off x="244966" y="312265"/>
              <a:ext cx="4770818" cy="461665"/>
            </a:xfrm>
            <a:prstGeom prst="rect">
              <a:avLst/>
            </a:prstGeom>
            <a:noFill/>
          </p:spPr>
          <p:txBody>
            <a:bodyPr wrap="square" rtlCol="0">
              <a:spAutoFit/>
            </a:bodyPr>
            <a:lstStyle/>
            <a:p>
              <a:r>
                <a:rPr lang="en-US" sz="2400" b="1" dirty="0"/>
                <a:t>Basic concepts in a clinical test</a:t>
              </a:r>
            </a:p>
          </p:txBody>
        </p:sp>
        <p:sp>
          <p:nvSpPr>
            <p:cNvPr id="3" name="QuadreDeText 2">
              <a:extLst>
                <a:ext uri="{FF2B5EF4-FFF2-40B4-BE49-F238E27FC236}">
                  <a16:creationId xmlns:a16="http://schemas.microsoft.com/office/drawing/2014/main" id="{93F01CD7-C86D-4096-832E-8137504B3E5E}"/>
                </a:ext>
              </a:extLst>
            </p:cNvPr>
            <p:cNvSpPr txBox="1"/>
            <p:nvPr/>
          </p:nvSpPr>
          <p:spPr>
            <a:xfrm>
              <a:off x="244967" y="966606"/>
              <a:ext cx="4561926" cy="1200329"/>
            </a:xfrm>
            <a:prstGeom prst="rect">
              <a:avLst/>
            </a:prstGeom>
            <a:noFill/>
          </p:spPr>
          <p:txBody>
            <a:bodyPr wrap="square" rtlCol="0">
              <a:spAutoFit/>
            </a:bodyPr>
            <a:lstStyle/>
            <a:p>
              <a:r>
                <a:rPr lang="en-US" b="1" dirty="0"/>
                <a:t>Sensibility</a:t>
              </a:r>
              <a:r>
                <a:rPr lang="en-US" dirty="0"/>
                <a:t>: Probability of a positive result among people having a disease, P(+|D)</a:t>
              </a:r>
            </a:p>
            <a:p>
              <a:r>
                <a:rPr lang="en-US" b="1" dirty="0"/>
                <a:t>Specificity</a:t>
              </a:r>
              <a:r>
                <a:rPr lang="en-US" dirty="0"/>
                <a:t>: Probability of a negative result among healthy people, P(-|H)</a:t>
              </a:r>
            </a:p>
          </p:txBody>
        </p:sp>
        <p:cxnSp>
          <p:nvCxnSpPr>
            <p:cNvPr id="5" name="Connector recte 4">
              <a:extLst>
                <a:ext uri="{FF2B5EF4-FFF2-40B4-BE49-F238E27FC236}">
                  <a16:creationId xmlns:a16="http://schemas.microsoft.com/office/drawing/2014/main" id="{5425F21A-A751-4F1B-8E7E-48E23A4CB2C1}"/>
                </a:ext>
              </a:extLst>
            </p:cNvPr>
            <p:cNvCxnSpPr>
              <a:cxnSpLocks/>
            </p:cNvCxnSpPr>
            <p:nvPr/>
          </p:nvCxnSpPr>
          <p:spPr>
            <a:xfrm>
              <a:off x="370801" y="773930"/>
              <a:ext cx="4919063"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QuadreDeText 5">
              <a:extLst>
                <a:ext uri="{FF2B5EF4-FFF2-40B4-BE49-F238E27FC236}">
                  <a16:creationId xmlns:a16="http://schemas.microsoft.com/office/drawing/2014/main" id="{EC02E6FF-B2E3-4C2E-8122-D85A7DC3B689}"/>
                </a:ext>
              </a:extLst>
            </p:cNvPr>
            <p:cNvSpPr txBox="1"/>
            <p:nvPr/>
          </p:nvSpPr>
          <p:spPr>
            <a:xfrm>
              <a:off x="282798" y="2284410"/>
              <a:ext cx="3061981" cy="646331"/>
            </a:xfrm>
            <a:prstGeom prst="rect">
              <a:avLst/>
            </a:prstGeom>
            <a:noFill/>
          </p:spPr>
          <p:txBody>
            <a:bodyPr wrap="square" rtlCol="0">
              <a:spAutoFit/>
            </a:bodyPr>
            <a:lstStyle/>
            <a:p>
              <a:r>
                <a:rPr lang="en-US" b="1" dirty="0"/>
                <a:t>Estimation of sensibility and </a:t>
              </a:r>
            </a:p>
            <a:p>
              <a:r>
                <a:rPr lang="en-US" b="1" dirty="0"/>
                <a:t>specificity from data</a:t>
              </a:r>
            </a:p>
          </p:txBody>
        </p:sp>
        <p:cxnSp>
          <p:nvCxnSpPr>
            <p:cNvPr id="7" name="Connector recte 6">
              <a:extLst>
                <a:ext uri="{FF2B5EF4-FFF2-40B4-BE49-F238E27FC236}">
                  <a16:creationId xmlns:a16="http://schemas.microsoft.com/office/drawing/2014/main" id="{69BF2525-FC6A-4825-AFFA-2922EBD722A1}"/>
                </a:ext>
              </a:extLst>
            </p:cNvPr>
            <p:cNvCxnSpPr>
              <a:cxnSpLocks/>
            </p:cNvCxnSpPr>
            <p:nvPr/>
          </p:nvCxnSpPr>
          <p:spPr>
            <a:xfrm>
              <a:off x="333994" y="3001806"/>
              <a:ext cx="3061981" cy="8655"/>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13" name="Imatge 12">
              <a:extLst>
                <a:ext uri="{FF2B5EF4-FFF2-40B4-BE49-F238E27FC236}">
                  <a16:creationId xmlns:a16="http://schemas.microsoft.com/office/drawing/2014/main" id="{EF6B3365-DA56-421C-B14C-C76C2D3B09BE}"/>
                </a:ext>
              </a:extLst>
            </p:cNvPr>
            <p:cNvPicPr>
              <a:picLocks noChangeAspect="1"/>
            </p:cNvPicPr>
            <p:nvPr/>
          </p:nvPicPr>
          <p:blipFill>
            <a:blip r:embed="rId2"/>
            <a:stretch>
              <a:fillRect/>
            </a:stretch>
          </p:blipFill>
          <p:spPr>
            <a:xfrm>
              <a:off x="662810" y="3366935"/>
              <a:ext cx="1781837" cy="1749587"/>
            </a:xfrm>
            <a:prstGeom prst="rect">
              <a:avLst/>
            </a:prstGeom>
          </p:spPr>
        </p:pic>
        <p:sp>
          <p:nvSpPr>
            <p:cNvPr id="14" name="QuadreDeText 13">
              <a:extLst>
                <a:ext uri="{FF2B5EF4-FFF2-40B4-BE49-F238E27FC236}">
                  <a16:creationId xmlns:a16="http://schemas.microsoft.com/office/drawing/2014/main" id="{9C23403F-19B9-4F6A-B748-CE91F5407738}"/>
                </a:ext>
              </a:extLst>
            </p:cNvPr>
            <p:cNvSpPr txBox="1"/>
            <p:nvPr/>
          </p:nvSpPr>
          <p:spPr>
            <a:xfrm>
              <a:off x="662810" y="3064931"/>
              <a:ext cx="833058" cy="338554"/>
            </a:xfrm>
            <a:prstGeom prst="rect">
              <a:avLst/>
            </a:prstGeom>
            <a:noFill/>
          </p:spPr>
          <p:txBody>
            <a:bodyPr wrap="square" rtlCol="0">
              <a:spAutoFit/>
            </a:bodyPr>
            <a:lstStyle/>
            <a:p>
              <a:r>
                <a:rPr lang="en-US" sz="1600" dirty="0"/>
                <a:t>Disease</a:t>
              </a:r>
            </a:p>
          </p:txBody>
        </p:sp>
        <p:sp>
          <p:nvSpPr>
            <p:cNvPr id="15" name="QuadreDeText 14">
              <a:extLst>
                <a:ext uri="{FF2B5EF4-FFF2-40B4-BE49-F238E27FC236}">
                  <a16:creationId xmlns:a16="http://schemas.microsoft.com/office/drawing/2014/main" id="{24206DDF-92D0-4807-A9F9-CAB3163EABE7}"/>
                </a:ext>
              </a:extLst>
            </p:cNvPr>
            <p:cNvSpPr txBox="1"/>
            <p:nvPr/>
          </p:nvSpPr>
          <p:spPr>
            <a:xfrm>
              <a:off x="1553728" y="3064931"/>
              <a:ext cx="833058" cy="338554"/>
            </a:xfrm>
            <a:prstGeom prst="rect">
              <a:avLst/>
            </a:prstGeom>
            <a:noFill/>
          </p:spPr>
          <p:txBody>
            <a:bodyPr wrap="square" rtlCol="0">
              <a:spAutoFit/>
            </a:bodyPr>
            <a:lstStyle/>
            <a:p>
              <a:r>
                <a:rPr lang="en-US" sz="1600" dirty="0"/>
                <a:t>Healthy</a:t>
              </a:r>
            </a:p>
          </p:txBody>
        </p:sp>
        <p:sp>
          <p:nvSpPr>
            <p:cNvPr id="16" name="QuadreDeText 15">
              <a:extLst>
                <a:ext uri="{FF2B5EF4-FFF2-40B4-BE49-F238E27FC236}">
                  <a16:creationId xmlns:a16="http://schemas.microsoft.com/office/drawing/2014/main" id="{B6932F9F-BC35-45F7-8360-4409A5013ADE}"/>
                </a:ext>
              </a:extLst>
            </p:cNvPr>
            <p:cNvSpPr txBox="1"/>
            <p:nvPr/>
          </p:nvSpPr>
          <p:spPr>
            <a:xfrm>
              <a:off x="111685" y="3518746"/>
              <a:ext cx="503340" cy="369332"/>
            </a:xfrm>
            <a:prstGeom prst="rect">
              <a:avLst/>
            </a:prstGeom>
            <a:noFill/>
          </p:spPr>
          <p:txBody>
            <a:bodyPr wrap="square" rtlCol="0">
              <a:spAutoFit/>
            </a:bodyPr>
            <a:lstStyle/>
            <a:p>
              <a:r>
                <a:rPr lang="en-US" dirty="0"/>
                <a:t>(+)</a:t>
              </a:r>
            </a:p>
          </p:txBody>
        </p:sp>
        <p:sp>
          <p:nvSpPr>
            <p:cNvPr id="17" name="QuadreDeText 16">
              <a:extLst>
                <a:ext uri="{FF2B5EF4-FFF2-40B4-BE49-F238E27FC236}">
                  <a16:creationId xmlns:a16="http://schemas.microsoft.com/office/drawing/2014/main" id="{8AE74C14-DB16-4669-A074-C48FF43AAFED}"/>
                </a:ext>
              </a:extLst>
            </p:cNvPr>
            <p:cNvSpPr txBox="1"/>
            <p:nvPr/>
          </p:nvSpPr>
          <p:spPr>
            <a:xfrm>
              <a:off x="111685" y="4457935"/>
              <a:ext cx="503340" cy="369332"/>
            </a:xfrm>
            <a:prstGeom prst="rect">
              <a:avLst/>
            </a:prstGeom>
            <a:noFill/>
          </p:spPr>
          <p:txBody>
            <a:bodyPr wrap="square" rtlCol="0">
              <a:spAutoFit/>
            </a:bodyPr>
            <a:lstStyle/>
            <a:p>
              <a:r>
                <a:rPr lang="en-US" dirty="0"/>
                <a:t>(-)</a:t>
              </a:r>
            </a:p>
          </p:txBody>
        </p:sp>
        <p:sp>
          <p:nvSpPr>
            <p:cNvPr id="18" name="QuadreDeText 17">
              <a:extLst>
                <a:ext uri="{FF2B5EF4-FFF2-40B4-BE49-F238E27FC236}">
                  <a16:creationId xmlns:a16="http://schemas.microsoft.com/office/drawing/2014/main" id="{679B74CA-215A-4EA7-A6BD-061AC4609E23}"/>
                </a:ext>
              </a:extLst>
            </p:cNvPr>
            <p:cNvSpPr txBox="1"/>
            <p:nvPr/>
          </p:nvSpPr>
          <p:spPr>
            <a:xfrm>
              <a:off x="855756" y="3604009"/>
              <a:ext cx="486562" cy="369332"/>
            </a:xfrm>
            <a:prstGeom prst="rect">
              <a:avLst/>
            </a:prstGeom>
            <a:noFill/>
          </p:spPr>
          <p:txBody>
            <a:bodyPr wrap="square" rtlCol="0">
              <a:spAutoFit/>
            </a:bodyPr>
            <a:lstStyle/>
            <a:p>
              <a:r>
                <a:rPr lang="en-US" dirty="0"/>
                <a:t>TP</a:t>
              </a:r>
            </a:p>
          </p:txBody>
        </p:sp>
        <p:sp>
          <p:nvSpPr>
            <p:cNvPr id="19" name="QuadreDeText 18">
              <a:extLst>
                <a:ext uri="{FF2B5EF4-FFF2-40B4-BE49-F238E27FC236}">
                  <a16:creationId xmlns:a16="http://schemas.microsoft.com/office/drawing/2014/main" id="{4DB5CC44-1E60-424A-8AA9-F8DFF47752CC}"/>
                </a:ext>
              </a:extLst>
            </p:cNvPr>
            <p:cNvSpPr txBox="1"/>
            <p:nvPr/>
          </p:nvSpPr>
          <p:spPr>
            <a:xfrm>
              <a:off x="1726976" y="3604009"/>
              <a:ext cx="486562" cy="369332"/>
            </a:xfrm>
            <a:prstGeom prst="rect">
              <a:avLst/>
            </a:prstGeom>
            <a:noFill/>
          </p:spPr>
          <p:txBody>
            <a:bodyPr wrap="square" rtlCol="0">
              <a:spAutoFit/>
            </a:bodyPr>
            <a:lstStyle/>
            <a:p>
              <a:r>
                <a:rPr lang="en-US" dirty="0"/>
                <a:t>FP</a:t>
              </a:r>
            </a:p>
          </p:txBody>
        </p:sp>
        <p:sp>
          <p:nvSpPr>
            <p:cNvPr id="20" name="QuadreDeText 19">
              <a:extLst>
                <a:ext uri="{FF2B5EF4-FFF2-40B4-BE49-F238E27FC236}">
                  <a16:creationId xmlns:a16="http://schemas.microsoft.com/office/drawing/2014/main" id="{03528AA9-A646-49C5-A959-7A55809C82C7}"/>
                </a:ext>
              </a:extLst>
            </p:cNvPr>
            <p:cNvSpPr txBox="1"/>
            <p:nvPr/>
          </p:nvSpPr>
          <p:spPr>
            <a:xfrm>
              <a:off x="855756" y="4457935"/>
              <a:ext cx="486562" cy="369332"/>
            </a:xfrm>
            <a:prstGeom prst="rect">
              <a:avLst/>
            </a:prstGeom>
            <a:noFill/>
          </p:spPr>
          <p:txBody>
            <a:bodyPr wrap="square" rtlCol="0">
              <a:spAutoFit/>
            </a:bodyPr>
            <a:lstStyle/>
            <a:p>
              <a:r>
                <a:rPr lang="en-US" dirty="0"/>
                <a:t>FN</a:t>
              </a:r>
            </a:p>
          </p:txBody>
        </p:sp>
        <p:sp>
          <p:nvSpPr>
            <p:cNvPr id="21" name="QuadreDeText 20">
              <a:extLst>
                <a:ext uri="{FF2B5EF4-FFF2-40B4-BE49-F238E27FC236}">
                  <a16:creationId xmlns:a16="http://schemas.microsoft.com/office/drawing/2014/main" id="{7EAE757C-DE84-4DE2-8259-FCE9C343035A}"/>
                </a:ext>
              </a:extLst>
            </p:cNvPr>
            <p:cNvSpPr txBox="1"/>
            <p:nvPr/>
          </p:nvSpPr>
          <p:spPr>
            <a:xfrm>
              <a:off x="1726976" y="4457935"/>
              <a:ext cx="486562" cy="369332"/>
            </a:xfrm>
            <a:prstGeom prst="rect">
              <a:avLst/>
            </a:prstGeom>
            <a:noFill/>
          </p:spPr>
          <p:txBody>
            <a:bodyPr wrap="square" rtlCol="0">
              <a:spAutoFit/>
            </a:bodyPr>
            <a:lstStyle/>
            <a:p>
              <a:r>
                <a:rPr lang="en-US" dirty="0"/>
                <a:t>TN</a:t>
              </a:r>
            </a:p>
          </p:txBody>
        </p:sp>
        <mc:AlternateContent xmlns:mc="http://schemas.openxmlformats.org/markup-compatibility/2006">
          <mc:Choice xmlns:a14="http://schemas.microsoft.com/office/drawing/2010/main" Requires="a14">
            <p:sp>
              <p:nvSpPr>
                <p:cNvPr id="25" name="Rectangle 24">
                  <a:extLst>
                    <a:ext uri="{FF2B5EF4-FFF2-40B4-BE49-F238E27FC236}">
                      <a16:creationId xmlns:a16="http://schemas.microsoft.com/office/drawing/2014/main" id="{3FDCEE8B-1133-42B1-B0E7-6D2E4A5FD68A}"/>
                    </a:ext>
                  </a:extLst>
                </p:cNvPr>
                <p:cNvSpPr/>
                <p:nvPr/>
              </p:nvSpPr>
              <p:spPr>
                <a:xfrm>
                  <a:off x="2844323" y="4864558"/>
                  <a:ext cx="3993144" cy="61734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ca-ES" b="0" i="1" smtClean="0">
                            <a:latin typeface="Cambria Math" panose="02040503050406030204" pitchFamily="18" charset="0"/>
                          </a:rPr>
                          <m:t>𝑃</m:t>
                        </m:r>
                        <m:d>
                          <m:dPr>
                            <m:ctrlPr>
                              <a:rPr lang="ca-ES" b="0" i="1" smtClean="0">
                                <a:latin typeface="Cambria Math" panose="02040503050406030204" pitchFamily="18" charset="0"/>
                              </a:rPr>
                            </m:ctrlPr>
                          </m:dPr>
                          <m:e>
                            <m:r>
                              <a:rPr lang="ca-ES" b="0" i="1" smtClean="0">
                                <a:latin typeface="Cambria Math" panose="02040503050406030204" pitchFamily="18" charset="0"/>
                              </a:rPr>
                              <m:t>+</m:t>
                            </m:r>
                          </m:e>
                          <m:e>
                            <m:r>
                              <a:rPr lang="ca-ES" b="0" i="1" smtClean="0">
                                <a:latin typeface="Cambria Math" panose="02040503050406030204" pitchFamily="18" charset="0"/>
                              </a:rPr>
                              <m:t>𝐷</m:t>
                            </m:r>
                          </m:e>
                        </m:d>
                        <m:r>
                          <a:rPr lang="ca-ES" b="0" i="1" smtClean="0">
                            <a:latin typeface="Cambria Math" panose="02040503050406030204" pitchFamily="18" charset="0"/>
                          </a:rPr>
                          <m:t>=</m:t>
                        </m:r>
                        <m:f>
                          <m:fPr>
                            <m:ctrlPr>
                              <a:rPr lang="ca-ES" b="0" i="1" smtClean="0">
                                <a:latin typeface="Cambria Math" panose="02040503050406030204" pitchFamily="18" charset="0"/>
                              </a:rPr>
                            </m:ctrlPr>
                          </m:fPr>
                          <m:num>
                            <m:r>
                              <a:rPr lang="ca-ES" b="0" i="1" smtClean="0">
                                <a:latin typeface="Cambria Math" panose="02040503050406030204" pitchFamily="18" charset="0"/>
                              </a:rPr>
                              <m:t>𝑇𝑃</m:t>
                            </m:r>
                          </m:num>
                          <m:den>
                            <m:r>
                              <a:rPr lang="ca-ES" b="0" i="1" smtClean="0">
                                <a:latin typeface="Cambria Math" panose="02040503050406030204" pitchFamily="18" charset="0"/>
                              </a:rPr>
                              <m:t>𝑇𝑃</m:t>
                            </m:r>
                            <m:r>
                              <a:rPr lang="ca-ES" b="0" i="1" smtClean="0">
                                <a:latin typeface="Cambria Math" panose="02040503050406030204" pitchFamily="18" charset="0"/>
                              </a:rPr>
                              <m:t>+</m:t>
                            </m:r>
                            <m:r>
                              <a:rPr lang="ca-ES" b="0" i="1" smtClean="0">
                                <a:latin typeface="Cambria Math" panose="02040503050406030204" pitchFamily="18" charset="0"/>
                              </a:rPr>
                              <m:t>𝐹𝑁</m:t>
                            </m:r>
                          </m:den>
                        </m:f>
                        <m:r>
                          <a:rPr lang="ca-ES" b="0" i="1" smtClean="0">
                            <a:latin typeface="Cambria Math" panose="02040503050406030204" pitchFamily="18" charset="0"/>
                          </a:rPr>
                          <m:t>=</m:t>
                        </m:r>
                        <m:f>
                          <m:fPr>
                            <m:ctrlPr>
                              <a:rPr lang="ca-ES" b="0" i="1" smtClean="0">
                                <a:latin typeface="Cambria Math" panose="02040503050406030204" pitchFamily="18" charset="0"/>
                              </a:rPr>
                            </m:ctrlPr>
                          </m:fPr>
                          <m:num>
                            <m:r>
                              <a:rPr lang="ca-ES" b="0" i="1" smtClean="0">
                                <a:latin typeface="Cambria Math" panose="02040503050406030204" pitchFamily="18" charset="0"/>
                              </a:rPr>
                              <m:t>32</m:t>
                            </m:r>
                          </m:num>
                          <m:den>
                            <m:r>
                              <a:rPr lang="ca-ES" b="0" i="1" smtClean="0">
                                <a:latin typeface="Cambria Math" panose="02040503050406030204" pitchFamily="18" charset="0"/>
                              </a:rPr>
                              <m:t>32+11</m:t>
                            </m:r>
                          </m:den>
                        </m:f>
                        <m:r>
                          <a:rPr lang="ca-ES" b="0" i="1" smtClean="0">
                            <a:latin typeface="Cambria Math" panose="02040503050406030204" pitchFamily="18" charset="0"/>
                          </a:rPr>
                          <m:t>=0.74</m:t>
                        </m:r>
                      </m:oMath>
                    </m:oMathPara>
                  </a14:m>
                  <a:endParaRPr lang="en-US" dirty="0"/>
                </a:p>
              </p:txBody>
            </p:sp>
          </mc:Choice>
          <mc:Fallback>
            <p:sp>
              <p:nvSpPr>
                <p:cNvPr id="25" name="Rectangle 24">
                  <a:extLst>
                    <a:ext uri="{FF2B5EF4-FFF2-40B4-BE49-F238E27FC236}">
                      <a16:creationId xmlns:a16="http://schemas.microsoft.com/office/drawing/2014/main" id="{3FDCEE8B-1133-42B1-B0E7-6D2E4A5FD68A}"/>
                    </a:ext>
                  </a:extLst>
                </p:cNvPr>
                <p:cNvSpPr>
                  <a:spLocks noRot="1" noChangeAspect="1" noMove="1" noResize="1" noEditPoints="1" noAdjustHandles="1" noChangeArrowheads="1" noChangeShapeType="1" noTextEdit="1"/>
                </p:cNvSpPr>
                <p:nvPr/>
              </p:nvSpPr>
              <p:spPr>
                <a:xfrm>
                  <a:off x="2844323" y="4864558"/>
                  <a:ext cx="3993144" cy="61734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Rectangle 25">
                  <a:extLst>
                    <a:ext uri="{FF2B5EF4-FFF2-40B4-BE49-F238E27FC236}">
                      <a16:creationId xmlns:a16="http://schemas.microsoft.com/office/drawing/2014/main" id="{66E57898-1D2F-4B89-A8B8-E7B96B9CB812}"/>
                    </a:ext>
                  </a:extLst>
                </p:cNvPr>
                <p:cNvSpPr/>
                <p:nvPr/>
              </p:nvSpPr>
              <p:spPr>
                <a:xfrm>
                  <a:off x="2846378" y="5599381"/>
                  <a:ext cx="3872920" cy="61734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ca-ES" b="0" i="1" smtClean="0">
                            <a:latin typeface="Cambria Math" panose="02040503050406030204" pitchFamily="18" charset="0"/>
                          </a:rPr>
                          <m:t>𝑃</m:t>
                        </m:r>
                        <m:d>
                          <m:dPr>
                            <m:ctrlPr>
                              <a:rPr lang="ca-ES" b="0" i="1" smtClean="0">
                                <a:latin typeface="Cambria Math" panose="02040503050406030204" pitchFamily="18" charset="0"/>
                              </a:rPr>
                            </m:ctrlPr>
                          </m:dPr>
                          <m:e>
                            <m:r>
                              <a:rPr lang="ca-ES" b="0" i="1" smtClean="0">
                                <a:latin typeface="Cambria Math" panose="02040503050406030204" pitchFamily="18" charset="0"/>
                              </a:rPr>
                              <m:t>−</m:t>
                            </m:r>
                          </m:e>
                          <m:e>
                            <m:r>
                              <a:rPr lang="ca-ES" b="0" i="1" smtClean="0">
                                <a:latin typeface="Cambria Math" panose="02040503050406030204" pitchFamily="18" charset="0"/>
                              </a:rPr>
                              <m:t>𝐻</m:t>
                            </m:r>
                          </m:e>
                        </m:d>
                        <m:r>
                          <a:rPr lang="ca-ES" b="0" i="1" smtClean="0">
                            <a:latin typeface="Cambria Math" panose="02040503050406030204" pitchFamily="18" charset="0"/>
                          </a:rPr>
                          <m:t>=</m:t>
                        </m:r>
                        <m:f>
                          <m:fPr>
                            <m:ctrlPr>
                              <a:rPr lang="ca-ES" b="0" i="1" smtClean="0">
                                <a:latin typeface="Cambria Math" panose="02040503050406030204" pitchFamily="18" charset="0"/>
                              </a:rPr>
                            </m:ctrlPr>
                          </m:fPr>
                          <m:num>
                            <m:r>
                              <a:rPr lang="ca-ES" b="0" i="1" smtClean="0">
                                <a:latin typeface="Cambria Math" panose="02040503050406030204" pitchFamily="18" charset="0"/>
                              </a:rPr>
                              <m:t>𝑇𝑁</m:t>
                            </m:r>
                          </m:num>
                          <m:den>
                            <m:r>
                              <a:rPr lang="ca-ES" b="0" i="1" smtClean="0">
                                <a:latin typeface="Cambria Math" panose="02040503050406030204" pitchFamily="18" charset="0"/>
                              </a:rPr>
                              <m:t>𝑇𝑁</m:t>
                            </m:r>
                            <m:r>
                              <a:rPr lang="ca-ES" b="0" i="1" smtClean="0">
                                <a:latin typeface="Cambria Math" panose="02040503050406030204" pitchFamily="18" charset="0"/>
                              </a:rPr>
                              <m:t>+</m:t>
                            </m:r>
                            <m:r>
                              <a:rPr lang="ca-ES" b="0" i="1" smtClean="0">
                                <a:latin typeface="Cambria Math" panose="02040503050406030204" pitchFamily="18" charset="0"/>
                              </a:rPr>
                              <m:t>𝐹𝑃</m:t>
                            </m:r>
                          </m:den>
                        </m:f>
                        <m:r>
                          <a:rPr lang="ca-ES" b="0" i="1" smtClean="0">
                            <a:latin typeface="Cambria Math" panose="02040503050406030204" pitchFamily="18" charset="0"/>
                          </a:rPr>
                          <m:t>=</m:t>
                        </m:r>
                        <m:f>
                          <m:fPr>
                            <m:ctrlPr>
                              <a:rPr lang="ca-ES" b="0" i="1" smtClean="0">
                                <a:latin typeface="Cambria Math" panose="02040503050406030204" pitchFamily="18" charset="0"/>
                              </a:rPr>
                            </m:ctrlPr>
                          </m:fPr>
                          <m:num>
                            <m:r>
                              <a:rPr lang="ca-ES" b="0" i="1" smtClean="0">
                                <a:latin typeface="Cambria Math" panose="02040503050406030204" pitchFamily="18" charset="0"/>
                              </a:rPr>
                              <m:t>43</m:t>
                            </m:r>
                          </m:num>
                          <m:den>
                            <m:r>
                              <a:rPr lang="ca-ES" b="0" i="1" smtClean="0">
                                <a:latin typeface="Cambria Math" panose="02040503050406030204" pitchFamily="18" charset="0"/>
                              </a:rPr>
                              <m:t>43+5</m:t>
                            </m:r>
                          </m:den>
                        </m:f>
                        <m:r>
                          <a:rPr lang="ca-ES" b="0" i="1" smtClean="0">
                            <a:latin typeface="Cambria Math" panose="02040503050406030204" pitchFamily="18" charset="0"/>
                          </a:rPr>
                          <m:t>=0.89</m:t>
                        </m:r>
                      </m:oMath>
                    </m:oMathPara>
                  </a14:m>
                  <a:endParaRPr lang="en-US" dirty="0"/>
                </a:p>
              </p:txBody>
            </p:sp>
          </mc:Choice>
          <mc:Fallback>
            <p:sp>
              <p:nvSpPr>
                <p:cNvPr id="26" name="Rectangle 25">
                  <a:extLst>
                    <a:ext uri="{FF2B5EF4-FFF2-40B4-BE49-F238E27FC236}">
                      <a16:creationId xmlns:a16="http://schemas.microsoft.com/office/drawing/2014/main" id="{66E57898-1D2F-4B89-A8B8-E7B96B9CB812}"/>
                    </a:ext>
                  </a:extLst>
                </p:cNvPr>
                <p:cNvSpPr>
                  <a:spLocks noRot="1" noChangeAspect="1" noMove="1" noResize="1" noEditPoints="1" noAdjustHandles="1" noChangeArrowheads="1" noChangeShapeType="1" noTextEdit="1"/>
                </p:cNvSpPr>
                <p:nvPr/>
              </p:nvSpPr>
              <p:spPr>
                <a:xfrm>
                  <a:off x="2846378" y="5599381"/>
                  <a:ext cx="3872920" cy="617348"/>
                </a:xfrm>
                <a:prstGeom prst="rect">
                  <a:avLst/>
                </a:prstGeom>
                <a:blipFill>
                  <a:blip r:embed="rId4"/>
                  <a:stretch>
                    <a:fillRect/>
                  </a:stretch>
                </a:blipFill>
              </p:spPr>
              <p:txBody>
                <a:bodyPr/>
                <a:lstStyle/>
                <a:p>
                  <a:r>
                    <a:rPr lang="en-US">
                      <a:noFill/>
                    </a:rPr>
                    <a:t> </a:t>
                  </a:r>
                </a:p>
              </p:txBody>
            </p:sp>
          </mc:Fallback>
        </mc:AlternateContent>
        <p:pic>
          <p:nvPicPr>
            <p:cNvPr id="27" name="Imatge 26">
              <a:extLst>
                <a:ext uri="{FF2B5EF4-FFF2-40B4-BE49-F238E27FC236}">
                  <a16:creationId xmlns:a16="http://schemas.microsoft.com/office/drawing/2014/main" id="{631FB979-D003-4523-B13F-E42705E8CB19}"/>
                </a:ext>
              </a:extLst>
            </p:cNvPr>
            <p:cNvPicPr>
              <a:picLocks noChangeAspect="1"/>
            </p:cNvPicPr>
            <p:nvPr/>
          </p:nvPicPr>
          <p:blipFill>
            <a:blip r:embed="rId2"/>
            <a:stretch>
              <a:fillRect/>
            </a:stretch>
          </p:blipFill>
          <p:spPr>
            <a:xfrm>
              <a:off x="4088850" y="2930031"/>
              <a:ext cx="1781837" cy="1749587"/>
            </a:xfrm>
            <a:prstGeom prst="rect">
              <a:avLst/>
            </a:prstGeom>
          </p:spPr>
        </p:pic>
        <p:sp>
          <p:nvSpPr>
            <p:cNvPr id="28" name="QuadreDeText 27">
              <a:extLst>
                <a:ext uri="{FF2B5EF4-FFF2-40B4-BE49-F238E27FC236}">
                  <a16:creationId xmlns:a16="http://schemas.microsoft.com/office/drawing/2014/main" id="{E1BC3195-6B96-480F-A12C-79F0499C4457}"/>
                </a:ext>
              </a:extLst>
            </p:cNvPr>
            <p:cNvSpPr txBox="1"/>
            <p:nvPr/>
          </p:nvSpPr>
          <p:spPr>
            <a:xfrm>
              <a:off x="3537725" y="3081842"/>
              <a:ext cx="503340" cy="369332"/>
            </a:xfrm>
            <a:prstGeom prst="rect">
              <a:avLst/>
            </a:prstGeom>
            <a:noFill/>
          </p:spPr>
          <p:txBody>
            <a:bodyPr wrap="square" rtlCol="0">
              <a:spAutoFit/>
            </a:bodyPr>
            <a:lstStyle/>
            <a:p>
              <a:r>
                <a:rPr lang="en-US" dirty="0"/>
                <a:t>(+)</a:t>
              </a:r>
            </a:p>
          </p:txBody>
        </p:sp>
        <p:sp>
          <p:nvSpPr>
            <p:cNvPr id="29" name="QuadreDeText 28">
              <a:extLst>
                <a:ext uri="{FF2B5EF4-FFF2-40B4-BE49-F238E27FC236}">
                  <a16:creationId xmlns:a16="http://schemas.microsoft.com/office/drawing/2014/main" id="{D8332F8D-F68C-44CE-A094-889E02D4931E}"/>
                </a:ext>
              </a:extLst>
            </p:cNvPr>
            <p:cNvSpPr txBox="1"/>
            <p:nvPr/>
          </p:nvSpPr>
          <p:spPr>
            <a:xfrm>
              <a:off x="3537725" y="4021031"/>
              <a:ext cx="503340" cy="369332"/>
            </a:xfrm>
            <a:prstGeom prst="rect">
              <a:avLst/>
            </a:prstGeom>
            <a:noFill/>
          </p:spPr>
          <p:txBody>
            <a:bodyPr wrap="square" rtlCol="0">
              <a:spAutoFit/>
            </a:bodyPr>
            <a:lstStyle/>
            <a:p>
              <a:r>
                <a:rPr lang="en-US" dirty="0"/>
                <a:t>(-)</a:t>
              </a:r>
            </a:p>
          </p:txBody>
        </p:sp>
        <p:sp>
          <p:nvSpPr>
            <p:cNvPr id="30" name="QuadreDeText 29">
              <a:extLst>
                <a:ext uri="{FF2B5EF4-FFF2-40B4-BE49-F238E27FC236}">
                  <a16:creationId xmlns:a16="http://schemas.microsoft.com/office/drawing/2014/main" id="{A1E53830-5826-4D8B-AD3A-6CB18EDC5CD7}"/>
                </a:ext>
              </a:extLst>
            </p:cNvPr>
            <p:cNvSpPr txBox="1"/>
            <p:nvPr/>
          </p:nvSpPr>
          <p:spPr>
            <a:xfrm>
              <a:off x="4281796" y="3167105"/>
              <a:ext cx="486562" cy="369332"/>
            </a:xfrm>
            <a:prstGeom prst="rect">
              <a:avLst/>
            </a:prstGeom>
            <a:noFill/>
          </p:spPr>
          <p:txBody>
            <a:bodyPr wrap="square" rtlCol="0">
              <a:spAutoFit/>
            </a:bodyPr>
            <a:lstStyle/>
            <a:p>
              <a:r>
                <a:rPr lang="en-US" dirty="0"/>
                <a:t>32</a:t>
              </a:r>
            </a:p>
          </p:txBody>
        </p:sp>
        <p:sp>
          <p:nvSpPr>
            <p:cNvPr id="31" name="QuadreDeText 30">
              <a:extLst>
                <a:ext uri="{FF2B5EF4-FFF2-40B4-BE49-F238E27FC236}">
                  <a16:creationId xmlns:a16="http://schemas.microsoft.com/office/drawing/2014/main" id="{2449F01F-4A83-4301-B81B-9BCB33A85632}"/>
                </a:ext>
              </a:extLst>
            </p:cNvPr>
            <p:cNvSpPr txBox="1"/>
            <p:nvPr/>
          </p:nvSpPr>
          <p:spPr>
            <a:xfrm>
              <a:off x="5153016" y="3167105"/>
              <a:ext cx="486562" cy="369332"/>
            </a:xfrm>
            <a:prstGeom prst="rect">
              <a:avLst/>
            </a:prstGeom>
            <a:noFill/>
          </p:spPr>
          <p:txBody>
            <a:bodyPr wrap="square" rtlCol="0">
              <a:spAutoFit/>
            </a:bodyPr>
            <a:lstStyle/>
            <a:p>
              <a:r>
                <a:rPr lang="en-US" dirty="0"/>
                <a:t>5</a:t>
              </a:r>
            </a:p>
          </p:txBody>
        </p:sp>
        <p:sp>
          <p:nvSpPr>
            <p:cNvPr id="32" name="QuadreDeText 31">
              <a:extLst>
                <a:ext uri="{FF2B5EF4-FFF2-40B4-BE49-F238E27FC236}">
                  <a16:creationId xmlns:a16="http://schemas.microsoft.com/office/drawing/2014/main" id="{CD22E5D9-8BFA-4594-87EA-5ADE9E0CDE19}"/>
                </a:ext>
              </a:extLst>
            </p:cNvPr>
            <p:cNvSpPr txBox="1"/>
            <p:nvPr/>
          </p:nvSpPr>
          <p:spPr>
            <a:xfrm>
              <a:off x="4281796" y="4021031"/>
              <a:ext cx="486562" cy="369332"/>
            </a:xfrm>
            <a:prstGeom prst="rect">
              <a:avLst/>
            </a:prstGeom>
            <a:noFill/>
          </p:spPr>
          <p:txBody>
            <a:bodyPr wrap="square" rtlCol="0">
              <a:spAutoFit/>
            </a:bodyPr>
            <a:lstStyle/>
            <a:p>
              <a:r>
                <a:rPr lang="en-US" dirty="0"/>
                <a:t>11</a:t>
              </a:r>
            </a:p>
          </p:txBody>
        </p:sp>
        <p:sp>
          <p:nvSpPr>
            <p:cNvPr id="33" name="QuadreDeText 32">
              <a:extLst>
                <a:ext uri="{FF2B5EF4-FFF2-40B4-BE49-F238E27FC236}">
                  <a16:creationId xmlns:a16="http://schemas.microsoft.com/office/drawing/2014/main" id="{44A91A19-E895-4DA4-9F13-033DB7457DC7}"/>
                </a:ext>
              </a:extLst>
            </p:cNvPr>
            <p:cNvSpPr txBox="1"/>
            <p:nvPr/>
          </p:nvSpPr>
          <p:spPr>
            <a:xfrm>
              <a:off x="5153016" y="4021031"/>
              <a:ext cx="486562" cy="369332"/>
            </a:xfrm>
            <a:prstGeom prst="rect">
              <a:avLst/>
            </a:prstGeom>
            <a:noFill/>
          </p:spPr>
          <p:txBody>
            <a:bodyPr wrap="square" rtlCol="0">
              <a:spAutoFit/>
            </a:bodyPr>
            <a:lstStyle/>
            <a:p>
              <a:r>
                <a:rPr lang="en-US" dirty="0"/>
                <a:t>43</a:t>
              </a:r>
            </a:p>
          </p:txBody>
        </p:sp>
        <p:sp>
          <p:nvSpPr>
            <p:cNvPr id="34" name="QuadreDeText 33">
              <a:extLst>
                <a:ext uri="{FF2B5EF4-FFF2-40B4-BE49-F238E27FC236}">
                  <a16:creationId xmlns:a16="http://schemas.microsoft.com/office/drawing/2014/main" id="{984D78A8-A2A5-4981-9F1A-E07D9A850538}"/>
                </a:ext>
              </a:extLst>
            </p:cNvPr>
            <p:cNvSpPr txBox="1"/>
            <p:nvPr/>
          </p:nvSpPr>
          <p:spPr>
            <a:xfrm>
              <a:off x="4041065" y="2628027"/>
              <a:ext cx="833058" cy="338554"/>
            </a:xfrm>
            <a:prstGeom prst="rect">
              <a:avLst/>
            </a:prstGeom>
            <a:noFill/>
          </p:spPr>
          <p:txBody>
            <a:bodyPr wrap="square" rtlCol="0">
              <a:spAutoFit/>
            </a:bodyPr>
            <a:lstStyle/>
            <a:p>
              <a:r>
                <a:rPr lang="en-US" sz="1600" dirty="0"/>
                <a:t>Disease</a:t>
              </a:r>
            </a:p>
          </p:txBody>
        </p:sp>
        <p:sp>
          <p:nvSpPr>
            <p:cNvPr id="35" name="QuadreDeText 34">
              <a:extLst>
                <a:ext uri="{FF2B5EF4-FFF2-40B4-BE49-F238E27FC236}">
                  <a16:creationId xmlns:a16="http://schemas.microsoft.com/office/drawing/2014/main" id="{4EA4BDC7-C7A1-4367-B5AF-8C16C3120090}"/>
                </a:ext>
              </a:extLst>
            </p:cNvPr>
            <p:cNvSpPr txBox="1"/>
            <p:nvPr/>
          </p:nvSpPr>
          <p:spPr>
            <a:xfrm>
              <a:off x="4931983" y="2628027"/>
              <a:ext cx="833058" cy="338554"/>
            </a:xfrm>
            <a:prstGeom prst="rect">
              <a:avLst/>
            </a:prstGeom>
            <a:noFill/>
          </p:spPr>
          <p:txBody>
            <a:bodyPr wrap="square" rtlCol="0">
              <a:spAutoFit/>
            </a:bodyPr>
            <a:lstStyle/>
            <a:p>
              <a:r>
                <a:rPr lang="en-US" sz="1600" dirty="0"/>
                <a:t>Healthy</a:t>
              </a:r>
            </a:p>
          </p:txBody>
        </p:sp>
      </p:grpSp>
    </p:spTree>
    <p:extLst>
      <p:ext uri="{BB962C8B-B14F-4D97-AF65-F5344CB8AC3E}">
        <p14:creationId xmlns:p14="http://schemas.microsoft.com/office/powerpoint/2010/main" val="544850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Agrupa 6">
            <a:extLst>
              <a:ext uri="{FF2B5EF4-FFF2-40B4-BE49-F238E27FC236}">
                <a16:creationId xmlns:a16="http://schemas.microsoft.com/office/drawing/2014/main" id="{51CF149F-A5E5-4567-BF12-E91989EE3692}"/>
              </a:ext>
            </a:extLst>
          </p:cNvPr>
          <p:cNvGrpSpPr/>
          <p:nvPr/>
        </p:nvGrpSpPr>
        <p:grpSpPr>
          <a:xfrm>
            <a:off x="696285" y="654341"/>
            <a:ext cx="7457811" cy="5502476"/>
            <a:chOff x="696285" y="654341"/>
            <a:chExt cx="7457811" cy="5502476"/>
          </a:xfrm>
        </p:grpSpPr>
        <p:sp>
          <p:nvSpPr>
            <p:cNvPr id="2" name="QuadreDeText 1">
              <a:extLst>
                <a:ext uri="{FF2B5EF4-FFF2-40B4-BE49-F238E27FC236}">
                  <a16:creationId xmlns:a16="http://schemas.microsoft.com/office/drawing/2014/main" id="{D992FF67-50D4-4306-8C05-301CCA5C64E4}"/>
                </a:ext>
              </a:extLst>
            </p:cNvPr>
            <p:cNvSpPr txBox="1"/>
            <p:nvPr/>
          </p:nvSpPr>
          <p:spPr>
            <a:xfrm>
              <a:off x="696285" y="654341"/>
              <a:ext cx="7021585" cy="461665"/>
            </a:xfrm>
            <a:prstGeom prst="rect">
              <a:avLst/>
            </a:prstGeom>
            <a:solidFill>
              <a:schemeClr val="tx1"/>
            </a:solidFill>
            <a:ln>
              <a:solidFill>
                <a:schemeClr val="tx1"/>
              </a:solidFill>
            </a:ln>
          </p:spPr>
          <p:txBody>
            <a:bodyPr wrap="square" rtlCol="0">
              <a:spAutoFit/>
            </a:bodyPr>
            <a:lstStyle/>
            <a:p>
              <a:r>
                <a:rPr lang="en-US" sz="2400" b="1" dirty="0">
                  <a:solidFill>
                    <a:schemeClr val="bg1"/>
                  </a:solidFill>
                </a:rPr>
                <a:t>Predictive values</a:t>
              </a:r>
            </a:p>
          </p:txBody>
        </p:sp>
        <p:sp>
          <p:nvSpPr>
            <p:cNvPr id="3" name="QuadreDeText 2">
              <a:extLst>
                <a:ext uri="{FF2B5EF4-FFF2-40B4-BE49-F238E27FC236}">
                  <a16:creationId xmlns:a16="http://schemas.microsoft.com/office/drawing/2014/main" id="{D5A2F1F9-4BC1-41A6-9031-0B61B2A52951}"/>
                </a:ext>
              </a:extLst>
            </p:cNvPr>
            <p:cNvSpPr txBox="1"/>
            <p:nvPr/>
          </p:nvSpPr>
          <p:spPr>
            <a:xfrm>
              <a:off x="696286" y="1400961"/>
              <a:ext cx="7021585" cy="1200329"/>
            </a:xfrm>
            <a:prstGeom prst="rect">
              <a:avLst/>
            </a:prstGeom>
            <a:solidFill>
              <a:srgbClr val="FFFF00"/>
            </a:solidFill>
            <a:ln>
              <a:solidFill>
                <a:schemeClr val="tx1"/>
              </a:solidFill>
            </a:ln>
          </p:spPr>
          <p:txBody>
            <a:bodyPr wrap="square" rtlCol="0">
              <a:spAutoFit/>
            </a:bodyPr>
            <a:lstStyle/>
            <a:p>
              <a:r>
                <a:rPr lang="en-US" b="1" dirty="0"/>
                <a:t>Positive predictive value (PPV): </a:t>
              </a:r>
              <a:r>
                <a:rPr lang="en-US" dirty="0"/>
                <a:t>P(D|+) is the probability that a subject has the disease if the test result is positive.</a:t>
              </a:r>
            </a:p>
            <a:p>
              <a:r>
                <a:rPr lang="en-US" b="1" dirty="0"/>
                <a:t>Negative predictive value (PPV): </a:t>
              </a:r>
              <a:r>
                <a:rPr lang="en-US" dirty="0"/>
                <a:t>P(H|-) is the probability that a subject is healthy if the test result is negative.</a:t>
              </a:r>
            </a:p>
          </p:txBody>
        </p:sp>
        <mc:AlternateContent xmlns:mc="http://schemas.openxmlformats.org/markup-compatibility/2006">
          <mc:Choice xmlns:a14="http://schemas.microsoft.com/office/drawing/2010/main" Requires="a14">
            <p:sp>
              <p:nvSpPr>
                <p:cNvPr id="4" name="QuadreDeText 3">
                  <a:extLst>
                    <a:ext uri="{FF2B5EF4-FFF2-40B4-BE49-F238E27FC236}">
                      <a16:creationId xmlns:a16="http://schemas.microsoft.com/office/drawing/2014/main" id="{76EEBBC3-C5DF-4ED4-B7CD-D182B42B9A1E}"/>
                    </a:ext>
                  </a:extLst>
                </p:cNvPr>
                <p:cNvSpPr txBox="1"/>
                <p:nvPr/>
              </p:nvSpPr>
              <p:spPr>
                <a:xfrm>
                  <a:off x="1342237" y="3080840"/>
                  <a:ext cx="5195077" cy="57676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ca-ES" b="0" i="1" smtClean="0">
                            <a:latin typeface="Cambria Math" panose="02040503050406030204" pitchFamily="18" charset="0"/>
                          </a:rPr>
                          <m:t>𝑃</m:t>
                        </m:r>
                        <m:d>
                          <m:dPr>
                            <m:ctrlPr>
                              <a:rPr lang="ca-ES" b="0" i="1" smtClean="0">
                                <a:latin typeface="Cambria Math" panose="02040503050406030204" pitchFamily="18" charset="0"/>
                              </a:rPr>
                            </m:ctrlPr>
                          </m:dPr>
                          <m:e>
                            <m:r>
                              <a:rPr lang="ca-ES" b="0" i="1" smtClean="0">
                                <a:latin typeface="Cambria Math" panose="02040503050406030204" pitchFamily="18" charset="0"/>
                              </a:rPr>
                              <m:t>𝐷</m:t>
                            </m:r>
                          </m:e>
                          <m:e>
                            <m:r>
                              <a:rPr lang="ca-ES" b="0" i="1" smtClean="0">
                                <a:latin typeface="Cambria Math" panose="02040503050406030204" pitchFamily="18" charset="0"/>
                              </a:rPr>
                              <m:t>+</m:t>
                            </m:r>
                          </m:e>
                        </m:d>
                        <m:r>
                          <a:rPr lang="ca-ES" b="0" i="1" smtClean="0">
                            <a:latin typeface="Cambria Math" panose="02040503050406030204" pitchFamily="18" charset="0"/>
                          </a:rPr>
                          <m:t>=</m:t>
                        </m:r>
                        <m:r>
                          <a:rPr lang="ca-ES" b="0" i="1" smtClean="0">
                            <a:latin typeface="Cambria Math" panose="02040503050406030204" pitchFamily="18" charset="0"/>
                          </a:rPr>
                          <m:t>𝑃𝑃𝑉</m:t>
                        </m:r>
                        <m:r>
                          <a:rPr lang="ca-ES" b="0" i="1" smtClean="0">
                            <a:latin typeface="Cambria Math" panose="02040503050406030204" pitchFamily="18" charset="0"/>
                          </a:rPr>
                          <m:t>=</m:t>
                        </m:r>
                        <m:f>
                          <m:fPr>
                            <m:ctrlPr>
                              <a:rPr lang="ca-ES" b="0" i="1" smtClean="0">
                                <a:latin typeface="Cambria Math" panose="02040503050406030204" pitchFamily="18" charset="0"/>
                              </a:rPr>
                            </m:ctrlPr>
                          </m:fPr>
                          <m:num>
                            <m:r>
                              <a:rPr lang="ca-ES" b="0" i="1" smtClean="0">
                                <a:latin typeface="Cambria Math" panose="02040503050406030204" pitchFamily="18" charset="0"/>
                              </a:rPr>
                              <m:t>𝑃</m:t>
                            </m:r>
                            <m:r>
                              <a:rPr lang="ca-ES" b="0" i="1" smtClean="0">
                                <a:latin typeface="Cambria Math" panose="02040503050406030204" pitchFamily="18" charset="0"/>
                              </a:rPr>
                              <m:t>(+|</m:t>
                            </m:r>
                            <m:r>
                              <a:rPr lang="ca-ES" b="0" i="1" smtClean="0">
                                <a:latin typeface="Cambria Math" panose="02040503050406030204" pitchFamily="18" charset="0"/>
                              </a:rPr>
                              <m:t>𝐷</m:t>
                            </m:r>
                            <m:r>
                              <a:rPr lang="ca-ES" b="0" i="1" smtClean="0">
                                <a:latin typeface="Cambria Math" panose="02040503050406030204" pitchFamily="18" charset="0"/>
                              </a:rPr>
                              <m:t>)×</m:t>
                            </m:r>
                            <m:r>
                              <a:rPr lang="ca-ES" b="0" i="1" smtClean="0">
                                <a:latin typeface="Cambria Math" panose="02040503050406030204" pitchFamily="18" charset="0"/>
                                <a:ea typeface="Cambria Math" panose="02040503050406030204" pitchFamily="18" charset="0"/>
                              </a:rPr>
                              <m:t>𝑃</m:t>
                            </m:r>
                            <m:r>
                              <a:rPr lang="ca-ES" b="0" i="1" smtClean="0">
                                <a:latin typeface="Cambria Math" panose="02040503050406030204" pitchFamily="18" charset="0"/>
                                <a:ea typeface="Cambria Math" panose="02040503050406030204" pitchFamily="18" charset="0"/>
                              </a:rPr>
                              <m:t>(</m:t>
                            </m:r>
                            <m:r>
                              <a:rPr lang="ca-ES" b="0" i="1" smtClean="0">
                                <a:latin typeface="Cambria Math" panose="02040503050406030204" pitchFamily="18" charset="0"/>
                                <a:ea typeface="Cambria Math" panose="02040503050406030204" pitchFamily="18" charset="0"/>
                              </a:rPr>
                              <m:t>𝐷</m:t>
                            </m:r>
                            <m:r>
                              <a:rPr lang="ca-ES" b="0" i="1" smtClean="0">
                                <a:latin typeface="Cambria Math" panose="02040503050406030204" pitchFamily="18" charset="0"/>
                                <a:ea typeface="Cambria Math" panose="02040503050406030204" pitchFamily="18" charset="0"/>
                              </a:rPr>
                              <m:t>)</m:t>
                            </m:r>
                          </m:num>
                          <m:den>
                            <m:r>
                              <a:rPr lang="ca-ES" b="0" i="1" smtClean="0">
                                <a:latin typeface="Cambria Math" panose="02040503050406030204" pitchFamily="18" charset="0"/>
                              </a:rPr>
                              <m:t>𝑃</m:t>
                            </m:r>
                            <m:d>
                              <m:dPr>
                                <m:ctrlPr>
                                  <a:rPr lang="ca-ES" b="0" i="1" smtClean="0">
                                    <a:latin typeface="Cambria Math" panose="02040503050406030204" pitchFamily="18" charset="0"/>
                                  </a:rPr>
                                </m:ctrlPr>
                              </m:dPr>
                              <m:e>
                                <m:r>
                                  <a:rPr lang="ca-ES" b="0" i="1" smtClean="0">
                                    <a:latin typeface="Cambria Math" panose="02040503050406030204" pitchFamily="18" charset="0"/>
                                  </a:rPr>
                                  <m:t>+</m:t>
                                </m:r>
                              </m:e>
                              <m:e>
                                <m:r>
                                  <a:rPr lang="ca-ES" b="0" i="1" smtClean="0">
                                    <a:latin typeface="Cambria Math" panose="02040503050406030204" pitchFamily="18" charset="0"/>
                                  </a:rPr>
                                  <m:t>𝐷</m:t>
                                </m:r>
                              </m:e>
                            </m:d>
                            <m:r>
                              <a:rPr lang="ca-ES" b="0" i="1" smtClean="0">
                                <a:latin typeface="Cambria Math" panose="02040503050406030204" pitchFamily="18" charset="0"/>
                              </a:rPr>
                              <m:t>×</m:t>
                            </m:r>
                            <m:r>
                              <a:rPr lang="ca-ES" b="0" i="1" smtClean="0">
                                <a:latin typeface="Cambria Math" panose="02040503050406030204" pitchFamily="18" charset="0"/>
                                <a:ea typeface="Cambria Math" panose="02040503050406030204" pitchFamily="18" charset="0"/>
                              </a:rPr>
                              <m:t>𝑃</m:t>
                            </m:r>
                            <m:d>
                              <m:dPr>
                                <m:ctrlPr>
                                  <a:rPr lang="ca-ES" b="0" i="1" smtClean="0">
                                    <a:latin typeface="Cambria Math" panose="02040503050406030204" pitchFamily="18" charset="0"/>
                                    <a:ea typeface="Cambria Math" panose="02040503050406030204" pitchFamily="18" charset="0"/>
                                  </a:rPr>
                                </m:ctrlPr>
                              </m:dPr>
                              <m:e>
                                <m:r>
                                  <a:rPr lang="ca-ES" b="0" i="1" smtClean="0">
                                    <a:latin typeface="Cambria Math" panose="02040503050406030204" pitchFamily="18" charset="0"/>
                                    <a:ea typeface="Cambria Math" panose="02040503050406030204" pitchFamily="18" charset="0"/>
                                  </a:rPr>
                                  <m:t>𝐷</m:t>
                                </m:r>
                              </m:e>
                            </m:d>
                            <m:r>
                              <a:rPr lang="ca-ES" b="0" i="1" smtClean="0">
                                <a:latin typeface="Cambria Math" panose="02040503050406030204" pitchFamily="18" charset="0"/>
                                <a:ea typeface="Cambria Math" panose="02040503050406030204" pitchFamily="18" charset="0"/>
                              </a:rPr>
                              <m:t>+</m:t>
                            </m:r>
                            <m:r>
                              <a:rPr lang="ca-ES" b="0" i="1" smtClean="0">
                                <a:latin typeface="Cambria Math" panose="02040503050406030204" pitchFamily="18" charset="0"/>
                                <a:ea typeface="Cambria Math" panose="02040503050406030204" pitchFamily="18" charset="0"/>
                              </a:rPr>
                              <m:t>𝑃</m:t>
                            </m:r>
                            <m:r>
                              <a:rPr lang="ca-ES" b="0" i="1" smtClean="0">
                                <a:latin typeface="Cambria Math" panose="02040503050406030204" pitchFamily="18" charset="0"/>
                                <a:ea typeface="Cambria Math" panose="02040503050406030204" pitchFamily="18" charset="0"/>
                              </a:rPr>
                              <m:t>(+|</m:t>
                            </m:r>
                            <m:r>
                              <a:rPr lang="ca-ES" b="0" i="1" smtClean="0">
                                <a:latin typeface="Cambria Math" panose="02040503050406030204" pitchFamily="18" charset="0"/>
                                <a:ea typeface="Cambria Math" panose="02040503050406030204" pitchFamily="18" charset="0"/>
                              </a:rPr>
                              <m:t>𝐻</m:t>
                            </m:r>
                            <m:r>
                              <a:rPr lang="ca-ES" b="0" i="1" smtClean="0">
                                <a:latin typeface="Cambria Math" panose="02040503050406030204" pitchFamily="18" charset="0"/>
                                <a:ea typeface="Cambria Math" panose="02040503050406030204" pitchFamily="18" charset="0"/>
                              </a:rPr>
                              <m:t>)×</m:t>
                            </m:r>
                            <m:r>
                              <a:rPr lang="ca-ES" b="0" i="1" smtClean="0">
                                <a:latin typeface="Cambria Math" panose="02040503050406030204" pitchFamily="18" charset="0"/>
                                <a:ea typeface="Cambria Math" panose="02040503050406030204" pitchFamily="18" charset="0"/>
                              </a:rPr>
                              <m:t>𝑃</m:t>
                            </m:r>
                            <m:r>
                              <a:rPr lang="ca-ES" b="0" i="1" smtClean="0">
                                <a:latin typeface="Cambria Math" panose="02040503050406030204" pitchFamily="18" charset="0"/>
                                <a:ea typeface="Cambria Math" panose="02040503050406030204" pitchFamily="18" charset="0"/>
                              </a:rPr>
                              <m:t>(</m:t>
                            </m:r>
                            <m:r>
                              <a:rPr lang="ca-ES" b="0" i="1" smtClean="0">
                                <a:latin typeface="Cambria Math" panose="02040503050406030204" pitchFamily="18" charset="0"/>
                                <a:ea typeface="Cambria Math" panose="02040503050406030204" pitchFamily="18" charset="0"/>
                              </a:rPr>
                              <m:t>𝐻</m:t>
                            </m:r>
                            <m:r>
                              <a:rPr lang="ca-ES" b="0" i="1" smtClean="0">
                                <a:latin typeface="Cambria Math" panose="02040503050406030204" pitchFamily="18" charset="0"/>
                                <a:ea typeface="Cambria Math" panose="02040503050406030204" pitchFamily="18" charset="0"/>
                              </a:rPr>
                              <m:t>)</m:t>
                            </m:r>
                          </m:den>
                        </m:f>
                      </m:oMath>
                    </m:oMathPara>
                  </a14:m>
                  <a:endParaRPr lang="en-US" dirty="0"/>
                </a:p>
              </p:txBody>
            </p:sp>
          </mc:Choice>
          <mc:Fallback>
            <p:sp>
              <p:nvSpPr>
                <p:cNvPr id="4" name="QuadreDeText 3">
                  <a:extLst>
                    <a:ext uri="{FF2B5EF4-FFF2-40B4-BE49-F238E27FC236}">
                      <a16:creationId xmlns:a16="http://schemas.microsoft.com/office/drawing/2014/main" id="{76EEBBC3-C5DF-4ED4-B7CD-D182B42B9A1E}"/>
                    </a:ext>
                  </a:extLst>
                </p:cNvPr>
                <p:cNvSpPr txBox="1">
                  <a:spLocks noRot="1" noChangeAspect="1" noMove="1" noResize="1" noEditPoints="1" noAdjustHandles="1" noChangeArrowheads="1" noChangeShapeType="1" noTextEdit="1"/>
                </p:cNvSpPr>
                <p:nvPr/>
              </p:nvSpPr>
              <p:spPr>
                <a:xfrm>
                  <a:off x="1342237" y="3080840"/>
                  <a:ext cx="5195077" cy="57676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QuadreDeText 4">
                  <a:extLst>
                    <a:ext uri="{FF2B5EF4-FFF2-40B4-BE49-F238E27FC236}">
                      <a16:creationId xmlns:a16="http://schemas.microsoft.com/office/drawing/2014/main" id="{0CED5D1C-8047-4D54-B6CB-7BDFAA5BA5E2}"/>
                    </a:ext>
                  </a:extLst>
                </p:cNvPr>
                <p:cNvSpPr txBox="1"/>
                <p:nvPr/>
              </p:nvSpPr>
              <p:spPr>
                <a:xfrm>
                  <a:off x="1342237" y="3968330"/>
                  <a:ext cx="5219121" cy="57676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ca-ES" b="0" i="1" smtClean="0">
                            <a:latin typeface="Cambria Math" panose="02040503050406030204" pitchFamily="18" charset="0"/>
                          </a:rPr>
                          <m:t>𝑃</m:t>
                        </m:r>
                        <m:d>
                          <m:dPr>
                            <m:ctrlPr>
                              <a:rPr lang="ca-ES" b="0" i="1" smtClean="0">
                                <a:latin typeface="Cambria Math" panose="02040503050406030204" pitchFamily="18" charset="0"/>
                              </a:rPr>
                            </m:ctrlPr>
                          </m:dPr>
                          <m:e>
                            <m:r>
                              <a:rPr lang="ca-ES" b="0" i="1" smtClean="0">
                                <a:latin typeface="Cambria Math" panose="02040503050406030204" pitchFamily="18" charset="0"/>
                              </a:rPr>
                              <m:t>𝐻</m:t>
                            </m:r>
                          </m:e>
                          <m:e>
                            <m:r>
                              <a:rPr lang="ca-ES" b="0" i="1" smtClean="0">
                                <a:latin typeface="Cambria Math" panose="02040503050406030204" pitchFamily="18" charset="0"/>
                              </a:rPr>
                              <m:t>−</m:t>
                            </m:r>
                          </m:e>
                        </m:d>
                        <m:r>
                          <a:rPr lang="ca-ES" b="0" i="1" smtClean="0">
                            <a:latin typeface="Cambria Math" panose="02040503050406030204" pitchFamily="18" charset="0"/>
                          </a:rPr>
                          <m:t>=</m:t>
                        </m:r>
                        <m:r>
                          <a:rPr lang="ca-ES" b="0" i="1" smtClean="0">
                            <a:latin typeface="Cambria Math" panose="02040503050406030204" pitchFamily="18" charset="0"/>
                          </a:rPr>
                          <m:t>𝑃𝑃𝑉</m:t>
                        </m:r>
                        <m:r>
                          <a:rPr lang="ca-ES" b="0" i="1" smtClean="0">
                            <a:latin typeface="Cambria Math" panose="02040503050406030204" pitchFamily="18" charset="0"/>
                          </a:rPr>
                          <m:t>=</m:t>
                        </m:r>
                        <m:f>
                          <m:fPr>
                            <m:ctrlPr>
                              <a:rPr lang="ca-ES" b="0" i="1" smtClean="0">
                                <a:latin typeface="Cambria Math" panose="02040503050406030204" pitchFamily="18" charset="0"/>
                              </a:rPr>
                            </m:ctrlPr>
                          </m:fPr>
                          <m:num>
                            <m:r>
                              <a:rPr lang="ca-ES" b="0" i="1" smtClean="0">
                                <a:latin typeface="Cambria Math" panose="02040503050406030204" pitchFamily="18" charset="0"/>
                              </a:rPr>
                              <m:t>𝑃</m:t>
                            </m:r>
                            <m:r>
                              <a:rPr lang="ca-ES" b="0" i="1" smtClean="0">
                                <a:latin typeface="Cambria Math" panose="02040503050406030204" pitchFamily="18" charset="0"/>
                              </a:rPr>
                              <m:t>(−|</m:t>
                            </m:r>
                            <m:r>
                              <a:rPr lang="ca-ES" b="0" i="1" smtClean="0">
                                <a:latin typeface="Cambria Math" panose="02040503050406030204" pitchFamily="18" charset="0"/>
                              </a:rPr>
                              <m:t>𝐻</m:t>
                            </m:r>
                            <m:r>
                              <a:rPr lang="ca-ES" b="0" i="1" smtClean="0">
                                <a:latin typeface="Cambria Math" panose="02040503050406030204" pitchFamily="18" charset="0"/>
                              </a:rPr>
                              <m:t>)×</m:t>
                            </m:r>
                            <m:r>
                              <a:rPr lang="ca-ES" b="0" i="1" smtClean="0">
                                <a:latin typeface="Cambria Math" panose="02040503050406030204" pitchFamily="18" charset="0"/>
                                <a:ea typeface="Cambria Math" panose="02040503050406030204" pitchFamily="18" charset="0"/>
                              </a:rPr>
                              <m:t>𝑃</m:t>
                            </m:r>
                            <m:r>
                              <a:rPr lang="ca-ES" b="0" i="1" smtClean="0">
                                <a:latin typeface="Cambria Math" panose="02040503050406030204" pitchFamily="18" charset="0"/>
                                <a:ea typeface="Cambria Math" panose="02040503050406030204" pitchFamily="18" charset="0"/>
                              </a:rPr>
                              <m:t>(</m:t>
                            </m:r>
                            <m:r>
                              <a:rPr lang="ca-ES" b="0" i="1" smtClean="0">
                                <a:latin typeface="Cambria Math" panose="02040503050406030204" pitchFamily="18" charset="0"/>
                                <a:ea typeface="Cambria Math" panose="02040503050406030204" pitchFamily="18" charset="0"/>
                              </a:rPr>
                              <m:t>𝐻</m:t>
                            </m:r>
                            <m:r>
                              <a:rPr lang="ca-ES" b="0" i="1" smtClean="0">
                                <a:latin typeface="Cambria Math" panose="02040503050406030204" pitchFamily="18" charset="0"/>
                                <a:ea typeface="Cambria Math" panose="02040503050406030204" pitchFamily="18" charset="0"/>
                              </a:rPr>
                              <m:t>)</m:t>
                            </m:r>
                          </m:num>
                          <m:den>
                            <m:r>
                              <a:rPr lang="ca-ES" b="0" i="1" smtClean="0">
                                <a:latin typeface="Cambria Math" panose="02040503050406030204" pitchFamily="18" charset="0"/>
                              </a:rPr>
                              <m:t>𝑃</m:t>
                            </m:r>
                            <m:d>
                              <m:dPr>
                                <m:ctrlPr>
                                  <a:rPr lang="ca-ES" b="0" i="1" smtClean="0">
                                    <a:latin typeface="Cambria Math" panose="02040503050406030204" pitchFamily="18" charset="0"/>
                                  </a:rPr>
                                </m:ctrlPr>
                              </m:dPr>
                              <m:e>
                                <m:r>
                                  <a:rPr lang="ca-ES" b="0" i="1" smtClean="0">
                                    <a:latin typeface="Cambria Math" panose="02040503050406030204" pitchFamily="18" charset="0"/>
                                  </a:rPr>
                                  <m:t>−</m:t>
                                </m:r>
                              </m:e>
                              <m:e>
                                <m:r>
                                  <a:rPr lang="ca-ES" b="0" i="1" smtClean="0">
                                    <a:latin typeface="Cambria Math" panose="02040503050406030204" pitchFamily="18" charset="0"/>
                                  </a:rPr>
                                  <m:t>𝐻</m:t>
                                </m:r>
                              </m:e>
                            </m:d>
                            <m:r>
                              <a:rPr lang="ca-ES" b="0" i="1" smtClean="0">
                                <a:latin typeface="Cambria Math" panose="02040503050406030204" pitchFamily="18" charset="0"/>
                              </a:rPr>
                              <m:t>×</m:t>
                            </m:r>
                            <m:r>
                              <a:rPr lang="ca-ES" b="0" i="1" smtClean="0">
                                <a:latin typeface="Cambria Math" panose="02040503050406030204" pitchFamily="18" charset="0"/>
                                <a:ea typeface="Cambria Math" panose="02040503050406030204" pitchFamily="18" charset="0"/>
                              </a:rPr>
                              <m:t>𝑃</m:t>
                            </m:r>
                            <m:d>
                              <m:dPr>
                                <m:ctrlPr>
                                  <a:rPr lang="ca-ES" b="0" i="1" smtClean="0">
                                    <a:latin typeface="Cambria Math" panose="02040503050406030204" pitchFamily="18" charset="0"/>
                                    <a:ea typeface="Cambria Math" panose="02040503050406030204" pitchFamily="18" charset="0"/>
                                  </a:rPr>
                                </m:ctrlPr>
                              </m:dPr>
                              <m:e>
                                <m:r>
                                  <a:rPr lang="ca-ES" b="0" i="1" smtClean="0">
                                    <a:latin typeface="Cambria Math" panose="02040503050406030204" pitchFamily="18" charset="0"/>
                                    <a:ea typeface="Cambria Math" panose="02040503050406030204" pitchFamily="18" charset="0"/>
                                  </a:rPr>
                                  <m:t>𝐻</m:t>
                                </m:r>
                              </m:e>
                            </m:d>
                            <m:r>
                              <a:rPr lang="ca-ES" b="0" i="1" smtClean="0">
                                <a:latin typeface="Cambria Math" panose="02040503050406030204" pitchFamily="18" charset="0"/>
                                <a:ea typeface="Cambria Math" panose="02040503050406030204" pitchFamily="18" charset="0"/>
                              </a:rPr>
                              <m:t>+</m:t>
                            </m:r>
                            <m:r>
                              <a:rPr lang="ca-ES" b="0" i="1" smtClean="0">
                                <a:latin typeface="Cambria Math" panose="02040503050406030204" pitchFamily="18" charset="0"/>
                                <a:ea typeface="Cambria Math" panose="02040503050406030204" pitchFamily="18" charset="0"/>
                              </a:rPr>
                              <m:t>𝑃</m:t>
                            </m:r>
                            <m:r>
                              <a:rPr lang="ca-ES" b="0" i="1" smtClean="0">
                                <a:latin typeface="Cambria Math" panose="02040503050406030204" pitchFamily="18" charset="0"/>
                                <a:ea typeface="Cambria Math" panose="02040503050406030204" pitchFamily="18" charset="0"/>
                              </a:rPr>
                              <m:t>(−|</m:t>
                            </m:r>
                            <m:r>
                              <a:rPr lang="ca-ES" b="0" i="1" smtClean="0">
                                <a:latin typeface="Cambria Math" panose="02040503050406030204" pitchFamily="18" charset="0"/>
                                <a:ea typeface="Cambria Math" panose="02040503050406030204" pitchFamily="18" charset="0"/>
                              </a:rPr>
                              <m:t>𝐷</m:t>
                            </m:r>
                            <m:r>
                              <a:rPr lang="ca-ES" b="0" i="1" smtClean="0">
                                <a:latin typeface="Cambria Math" panose="02040503050406030204" pitchFamily="18" charset="0"/>
                                <a:ea typeface="Cambria Math" panose="02040503050406030204" pitchFamily="18" charset="0"/>
                              </a:rPr>
                              <m:t>)×</m:t>
                            </m:r>
                            <m:r>
                              <a:rPr lang="ca-ES" b="0" i="1" smtClean="0">
                                <a:latin typeface="Cambria Math" panose="02040503050406030204" pitchFamily="18" charset="0"/>
                                <a:ea typeface="Cambria Math" panose="02040503050406030204" pitchFamily="18" charset="0"/>
                              </a:rPr>
                              <m:t>𝑃</m:t>
                            </m:r>
                            <m:r>
                              <a:rPr lang="ca-ES" b="0" i="1" smtClean="0">
                                <a:latin typeface="Cambria Math" panose="02040503050406030204" pitchFamily="18" charset="0"/>
                                <a:ea typeface="Cambria Math" panose="02040503050406030204" pitchFamily="18" charset="0"/>
                              </a:rPr>
                              <m:t>(</m:t>
                            </m:r>
                            <m:r>
                              <a:rPr lang="ca-ES" b="0" i="1" smtClean="0">
                                <a:latin typeface="Cambria Math" panose="02040503050406030204" pitchFamily="18" charset="0"/>
                                <a:ea typeface="Cambria Math" panose="02040503050406030204" pitchFamily="18" charset="0"/>
                              </a:rPr>
                              <m:t>𝐷</m:t>
                            </m:r>
                            <m:r>
                              <a:rPr lang="ca-ES" b="0" i="1" smtClean="0">
                                <a:latin typeface="Cambria Math" panose="02040503050406030204" pitchFamily="18" charset="0"/>
                                <a:ea typeface="Cambria Math" panose="02040503050406030204" pitchFamily="18" charset="0"/>
                              </a:rPr>
                              <m:t>)</m:t>
                            </m:r>
                          </m:den>
                        </m:f>
                      </m:oMath>
                    </m:oMathPara>
                  </a14:m>
                  <a:endParaRPr lang="en-US" dirty="0"/>
                </a:p>
              </p:txBody>
            </p:sp>
          </mc:Choice>
          <mc:Fallback>
            <p:sp>
              <p:nvSpPr>
                <p:cNvPr id="5" name="QuadreDeText 4">
                  <a:extLst>
                    <a:ext uri="{FF2B5EF4-FFF2-40B4-BE49-F238E27FC236}">
                      <a16:creationId xmlns:a16="http://schemas.microsoft.com/office/drawing/2014/main" id="{0CED5D1C-8047-4D54-B6CB-7BDFAA5BA5E2}"/>
                    </a:ext>
                  </a:extLst>
                </p:cNvPr>
                <p:cNvSpPr txBox="1">
                  <a:spLocks noRot="1" noChangeAspect="1" noMove="1" noResize="1" noEditPoints="1" noAdjustHandles="1" noChangeArrowheads="1" noChangeShapeType="1" noTextEdit="1"/>
                </p:cNvSpPr>
                <p:nvPr/>
              </p:nvSpPr>
              <p:spPr>
                <a:xfrm>
                  <a:off x="1342237" y="3968330"/>
                  <a:ext cx="5219121" cy="576761"/>
                </a:xfrm>
                <a:prstGeom prst="rect">
                  <a:avLst/>
                </a:prstGeom>
                <a:blipFill>
                  <a:blip r:embed="rId3"/>
                  <a:stretch>
                    <a:fillRect/>
                  </a:stretch>
                </a:blipFill>
              </p:spPr>
              <p:txBody>
                <a:bodyPr/>
                <a:lstStyle/>
                <a:p>
                  <a:r>
                    <a:rPr lang="en-US">
                      <a:noFill/>
                    </a:rPr>
                    <a:t> </a:t>
                  </a:r>
                </a:p>
              </p:txBody>
            </p:sp>
          </mc:Fallback>
        </mc:AlternateContent>
        <p:sp>
          <p:nvSpPr>
            <p:cNvPr id="6" name="QuadreDeText 5">
              <a:extLst>
                <a:ext uri="{FF2B5EF4-FFF2-40B4-BE49-F238E27FC236}">
                  <a16:creationId xmlns:a16="http://schemas.microsoft.com/office/drawing/2014/main" id="{F2544453-C6F2-4520-BB99-D6A9A3571D35}"/>
                </a:ext>
              </a:extLst>
            </p:cNvPr>
            <p:cNvSpPr txBox="1"/>
            <p:nvPr/>
          </p:nvSpPr>
          <p:spPr>
            <a:xfrm>
              <a:off x="1333848" y="5079599"/>
              <a:ext cx="6820248" cy="1077218"/>
            </a:xfrm>
            <a:prstGeom prst="rect">
              <a:avLst/>
            </a:prstGeom>
            <a:noFill/>
          </p:spPr>
          <p:txBody>
            <a:bodyPr wrap="square" rtlCol="0">
              <a:spAutoFit/>
            </a:bodyPr>
            <a:lstStyle/>
            <a:p>
              <a:r>
                <a:rPr lang="en-US" sz="1600" dirty="0"/>
                <a:t>The predictive value of a test depend on its sensibility and specificity and on the prevalence (P(D)) of the disease in the population in which by are applying the test. When we design test, we can work on having good sensitivity and specificity, BUT the prevalence is a question of the actual population!</a:t>
              </a:r>
            </a:p>
          </p:txBody>
        </p:sp>
      </p:grpSp>
    </p:spTree>
    <p:extLst>
      <p:ext uri="{BB962C8B-B14F-4D97-AF65-F5344CB8AC3E}">
        <p14:creationId xmlns:p14="http://schemas.microsoft.com/office/powerpoint/2010/main" val="2951795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Agrupa 4">
            <a:extLst>
              <a:ext uri="{FF2B5EF4-FFF2-40B4-BE49-F238E27FC236}">
                <a16:creationId xmlns:a16="http://schemas.microsoft.com/office/drawing/2014/main" id="{9BF34666-E4FB-4624-B346-7354D6DEBFDD}"/>
              </a:ext>
            </a:extLst>
          </p:cNvPr>
          <p:cNvGrpSpPr/>
          <p:nvPr/>
        </p:nvGrpSpPr>
        <p:grpSpPr>
          <a:xfrm>
            <a:off x="360727" y="1325461"/>
            <a:ext cx="8338656" cy="4889144"/>
            <a:chOff x="360727" y="1325461"/>
            <a:chExt cx="8338656" cy="4889144"/>
          </a:xfrm>
        </p:grpSpPr>
        <p:pic>
          <p:nvPicPr>
            <p:cNvPr id="2" name="Imatge 1">
              <a:extLst>
                <a:ext uri="{FF2B5EF4-FFF2-40B4-BE49-F238E27FC236}">
                  <a16:creationId xmlns:a16="http://schemas.microsoft.com/office/drawing/2014/main" id="{A85F9106-5044-4800-B459-A2B0AB557548}"/>
                </a:ext>
              </a:extLst>
            </p:cNvPr>
            <p:cNvPicPr>
              <a:picLocks noChangeAspect="1"/>
            </p:cNvPicPr>
            <p:nvPr/>
          </p:nvPicPr>
          <p:blipFill rotWithShape="1">
            <a:blip r:embed="rId2"/>
            <a:srcRect l="16254" r="14398"/>
            <a:stretch/>
          </p:blipFill>
          <p:spPr>
            <a:xfrm>
              <a:off x="4295162" y="2405081"/>
              <a:ext cx="4404221" cy="3809524"/>
            </a:xfrm>
            <a:prstGeom prst="rect">
              <a:avLst/>
            </a:prstGeom>
          </p:spPr>
        </p:pic>
        <p:sp>
          <p:nvSpPr>
            <p:cNvPr id="3" name="QuadreDeText 2">
              <a:extLst>
                <a:ext uri="{FF2B5EF4-FFF2-40B4-BE49-F238E27FC236}">
                  <a16:creationId xmlns:a16="http://schemas.microsoft.com/office/drawing/2014/main" id="{0BE0EBFA-426A-49B5-B103-4CAF3C45839C}"/>
                </a:ext>
              </a:extLst>
            </p:cNvPr>
            <p:cNvSpPr txBox="1"/>
            <p:nvPr/>
          </p:nvSpPr>
          <p:spPr>
            <a:xfrm>
              <a:off x="360727" y="2247740"/>
              <a:ext cx="3682767" cy="2062103"/>
            </a:xfrm>
            <a:prstGeom prst="rect">
              <a:avLst/>
            </a:prstGeom>
            <a:solidFill>
              <a:srgbClr val="FFFF00"/>
            </a:solidFill>
            <a:ln>
              <a:solidFill>
                <a:schemeClr val="tx1"/>
              </a:solidFill>
            </a:ln>
          </p:spPr>
          <p:txBody>
            <a:bodyPr wrap="square" rtlCol="0">
              <a:spAutoFit/>
            </a:bodyPr>
            <a:lstStyle/>
            <a:p>
              <a:r>
                <a:rPr lang="en-US" sz="1600" dirty="0"/>
                <a:t>The ROC curve evaluates the discriminant ability of this biomarker in a given scenario.  The AUC measures the performance in each case. An AUC=0.5 indicates that the chosen biomarker performs as tossing a money. The optimal discrimination is attained for high values of AUC (closed to 1).</a:t>
              </a:r>
            </a:p>
          </p:txBody>
        </p:sp>
        <p:sp>
          <p:nvSpPr>
            <p:cNvPr id="4" name="QuadreDeText 3">
              <a:extLst>
                <a:ext uri="{FF2B5EF4-FFF2-40B4-BE49-F238E27FC236}">
                  <a16:creationId xmlns:a16="http://schemas.microsoft.com/office/drawing/2014/main" id="{276A213E-78AB-4D18-8FFC-8E40D2B84553}"/>
                </a:ext>
              </a:extLst>
            </p:cNvPr>
            <p:cNvSpPr txBox="1"/>
            <p:nvPr/>
          </p:nvSpPr>
          <p:spPr>
            <a:xfrm>
              <a:off x="360727" y="1325461"/>
              <a:ext cx="7877262" cy="461665"/>
            </a:xfrm>
            <a:prstGeom prst="rect">
              <a:avLst/>
            </a:prstGeom>
            <a:solidFill>
              <a:schemeClr val="tx1"/>
            </a:solidFill>
          </p:spPr>
          <p:txBody>
            <a:bodyPr wrap="square" rtlCol="0">
              <a:spAutoFit/>
            </a:bodyPr>
            <a:lstStyle/>
            <a:p>
              <a:r>
                <a:rPr lang="en-US" sz="2400" dirty="0">
                  <a:solidFill>
                    <a:schemeClr val="bg1"/>
                  </a:solidFill>
                </a:rPr>
                <a:t>ROC Curve</a:t>
              </a:r>
            </a:p>
          </p:txBody>
        </p:sp>
      </p:grpSp>
    </p:spTree>
    <p:extLst>
      <p:ext uri="{BB962C8B-B14F-4D97-AF65-F5344CB8AC3E}">
        <p14:creationId xmlns:p14="http://schemas.microsoft.com/office/powerpoint/2010/main" val="2506081124"/>
      </p:ext>
    </p:extLst>
  </p:cSld>
  <p:clrMapOvr>
    <a:masterClrMapping/>
  </p:clrMapOvr>
</p:sld>
</file>

<file path=ppt/theme/theme1.xml><?xml version="1.0" encoding="utf-8"?>
<a:theme xmlns:a="http://schemas.openxmlformats.org/drawingml/2006/main" name="Tema de l'Office">
  <a:themeElements>
    <a:clrScheme name="Oficina">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icin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icin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180</TotalTime>
  <Words>329</Words>
  <Application>Microsoft Office PowerPoint</Application>
  <PresentationFormat>Presentació en pantalla (4:3)</PresentationFormat>
  <Paragraphs>40</Paragraphs>
  <Slides>4</Slides>
  <Notes>0</Notes>
  <HiddenSlides>0</HiddenSlides>
  <MMClips>0</MMClips>
  <ScaleCrop>false</ScaleCrop>
  <HeadingPairs>
    <vt:vector size="6" baseType="variant">
      <vt:variant>
        <vt:lpstr>Tipus de lletra utilitzats</vt:lpstr>
      </vt:variant>
      <vt:variant>
        <vt:i4>4</vt:i4>
      </vt:variant>
      <vt:variant>
        <vt:lpstr>Tema</vt:lpstr>
      </vt:variant>
      <vt:variant>
        <vt:i4>1</vt:i4>
      </vt:variant>
      <vt:variant>
        <vt:lpstr>Títols de les diapositives</vt:lpstr>
      </vt:variant>
      <vt:variant>
        <vt:i4>4</vt:i4>
      </vt:variant>
    </vt:vector>
  </HeadingPairs>
  <TitlesOfParts>
    <vt:vector size="9" baseType="lpstr">
      <vt:lpstr>Arial</vt:lpstr>
      <vt:lpstr>Calibri</vt:lpstr>
      <vt:lpstr>Calibri Light</vt:lpstr>
      <vt:lpstr>Cambria Math</vt:lpstr>
      <vt:lpstr>Tema de l'Office</vt:lpstr>
      <vt:lpstr>Presentació del PowerPoint</vt:lpstr>
      <vt:lpstr>Presentació del PowerPoint</vt:lpstr>
      <vt:lpstr>Presentació del PowerPoint</vt:lpstr>
      <vt:lpstr>Presentació del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 del PowerPoint</dc:title>
  <dc:creator>Albert Sorribas</dc:creator>
  <cp:lastModifiedBy>Albert Sorribas</cp:lastModifiedBy>
  <cp:revision>9</cp:revision>
  <dcterms:created xsi:type="dcterms:W3CDTF">2019-11-13T15:37:54Z</dcterms:created>
  <dcterms:modified xsi:type="dcterms:W3CDTF">2019-11-13T18:38:35Z</dcterms:modified>
</cp:coreProperties>
</file>